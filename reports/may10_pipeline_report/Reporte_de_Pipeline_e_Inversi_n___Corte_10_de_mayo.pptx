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357438" cy="514350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4" name="Text 1"/>
          <p:cNvSpPr/>
          <p:nvPr/>
        </p:nvSpPr>
        <p:spPr>
          <a:xfrm>
            <a:off x="300038" y="385763"/>
            <a:ext cx="17859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1" kern="0" dirty="0">
                <a:solidFill>
                  <a:srgbClr val="D9A44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PIPELINE CLIENTES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00038" y="4265600"/>
            <a:ext cx="1785938" cy="877900"/>
          </a:xfrm>
          <a:prstGeom prst="rect">
            <a:avLst/>
          </a:prstGeom>
          <a:noFill/>
          <a:ln/>
        </p:spPr>
        <p:txBody>
          <a:bodyPr wrap="square" lIns="0" tIns="0" rIns="0" bIns="425196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Reporte operativo</a:t>
            </a:r>
            <a:r>
              <a:rPr lang="en-US" sz="95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</a:t>
            </a:r>
            <a:r>
              <a:rPr lang="en-US" sz="95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inversión, conversión,</a:t>
            </a:r>
            <a:r>
              <a:rPr lang="en-US" sz="95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</a:t>
            </a:r>
            <a:r>
              <a:rPr lang="en-US" sz="95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semáforo y costo por cita.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886075" y="1828800"/>
            <a:ext cx="5429250" cy="940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5200"/>
              </a:lnSpc>
              <a:buNone/>
            </a:pPr>
            <a:r>
              <a:rPr lang="en-US" sz="3600" b="1" spc="-3" kern="0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Reporte de Pipeline e Inversión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886075" y="2954610"/>
            <a:ext cx="542925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Corte acumulado del 1 al 10 de mayo de 2026 · Dashboard Pipeline Clientes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886075" y="4466630"/>
            <a:ext cx="47572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7069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PERIODO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886075" y="4654153"/>
            <a:ext cx="1809741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01–10 mayo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24403" y="4466630"/>
            <a:ext cx="51680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7069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FORMATO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824403" y="4654153"/>
            <a:ext cx="1809741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PPTX + PDF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62731" y="4466630"/>
            <a:ext cx="88270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7069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PREPARADO POR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762731" y="4654153"/>
            <a:ext cx="1809741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Manus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485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1488" y="457200"/>
            <a:ext cx="5429250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7069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RESUMEN EJECUTIVO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1488" y="659011"/>
            <a:ext cx="5429250" cy="612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250" spc="-1" kern="0" dirty="0">
                <a:solidFill>
                  <a:srgbClr val="1C1B19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El pipeline acumuló 15 citas con $25,970 invertidos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7693819" y="514350"/>
            <a:ext cx="109299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01–10 mayo 2026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71488" y="1413960"/>
            <a:ext cx="2724141" cy="798314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513973"/>
            <a:ext cx="2524116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F6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CITAS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1769362"/>
            <a:ext cx="25241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F6F2EA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15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267066" y="1413960"/>
            <a:ext cx="2724141" cy="798314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10" name="Text 7"/>
          <p:cNvSpPr/>
          <p:nvPr/>
        </p:nvSpPr>
        <p:spPr>
          <a:xfrm>
            <a:off x="3367078" y="1513973"/>
            <a:ext cx="2524116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F6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INVERSIÓN META ADS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367078" y="1769362"/>
            <a:ext cx="25241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F6F2EA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$25,970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062644" y="1413960"/>
            <a:ext cx="2724169" cy="79831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3" name="Text 10"/>
          <p:cNvSpPr/>
          <p:nvPr/>
        </p:nvSpPr>
        <p:spPr>
          <a:xfrm>
            <a:off x="6162656" y="1513973"/>
            <a:ext cx="2524144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COSTO POR CITA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162656" y="1769362"/>
            <a:ext cx="25241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1C1B19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$1,731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471488" y="2340862"/>
            <a:ext cx="4643438" cy="1546622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16" name="Shape 13"/>
          <p:cNvSpPr/>
          <p:nvPr/>
        </p:nvSpPr>
        <p:spPr>
          <a:xfrm>
            <a:off x="471488" y="2340862"/>
            <a:ext cx="1953090" cy="25717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471488" y="2340862"/>
            <a:ext cx="1953090" cy="257175"/>
          </a:xfrm>
          <a:prstGeom prst="rect">
            <a:avLst/>
          </a:prstGeom>
          <a:noFill/>
          <a:ln/>
        </p:spPr>
        <p:txBody>
          <a:bodyPr wrap="square" lIns="102108" tIns="51054" rIns="102108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Métrica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424578" y="2340862"/>
            <a:ext cx="2690347" cy="25717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2424578" y="2340862"/>
            <a:ext cx="2690347" cy="257175"/>
          </a:xfrm>
          <a:prstGeom prst="rect">
            <a:avLst/>
          </a:prstGeom>
          <a:noFill/>
          <a:ln/>
        </p:spPr>
        <p:txBody>
          <a:bodyPr wrap="square" lIns="102108" tIns="51054" rIns="102108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Resultado acumulado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1488" y="2598037"/>
            <a:ext cx="1953090" cy="257175"/>
          </a:xfrm>
          <a:prstGeom prst="rect">
            <a:avLst/>
          </a:prstGeom>
          <a:noFill/>
          <a:ln/>
        </p:spPr>
        <p:txBody>
          <a:bodyPr wrap="square" lIns="102108" tIns="51054" rIns="102108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Conversaciones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424578" y="2598037"/>
            <a:ext cx="2690347" cy="257175"/>
          </a:xfrm>
          <a:prstGeom prst="rect">
            <a:avLst/>
          </a:prstGeom>
          <a:noFill/>
          <a:ln/>
        </p:spPr>
        <p:txBody>
          <a:bodyPr wrap="square" lIns="102108" tIns="51054" rIns="1021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546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488" y="2855212"/>
            <a:ext cx="1953090" cy="257175"/>
          </a:xfrm>
          <a:prstGeom prst="rect">
            <a:avLst/>
          </a:prstGeom>
          <a:noFill/>
          <a:ln/>
        </p:spPr>
        <p:txBody>
          <a:bodyPr wrap="square" lIns="102108" tIns="51054" rIns="102108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MQL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424578" y="2855212"/>
            <a:ext cx="2690347" cy="257175"/>
          </a:xfrm>
          <a:prstGeom prst="rect">
            <a:avLst/>
          </a:prstGeom>
          <a:noFill/>
          <a:ln/>
        </p:spPr>
        <p:txBody>
          <a:bodyPr wrap="square" lIns="102108" tIns="51054" rIns="1021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53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1488" y="3112387"/>
            <a:ext cx="1953090" cy="257175"/>
          </a:xfrm>
          <a:prstGeom prst="rect">
            <a:avLst/>
          </a:prstGeom>
          <a:noFill/>
          <a:ln/>
        </p:spPr>
        <p:txBody>
          <a:bodyPr wrap="square" lIns="102108" tIns="51054" rIns="102108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424578" y="3112387"/>
            <a:ext cx="2690347" cy="257175"/>
          </a:xfrm>
          <a:prstGeom prst="rect">
            <a:avLst/>
          </a:prstGeom>
          <a:noFill/>
          <a:ln/>
        </p:spPr>
        <p:txBody>
          <a:bodyPr wrap="square" lIns="102108" tIns="51054" rIns="1021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16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71488" y="3369562"/>
            <a:ext cx="1953090" cy="257175"/>
          </a:xfrm>
          <a:prstGeom prst="rect">
            <a:avLst/>
          </a:prstGeom>
          <a:noFill/>
          <a:ln/>
        </p:spPr>
        <p:txBody>
          <a:bodyPr wrap="square" lIns="102108" tIns="51054" rIns="102108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Firmas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424578" y="3369562"/>
            <a:ext cx="2690347" cy="257175"/>
          </a:xfrm>
          <a:prstGeom prst="rect">
            <a:avLst/>
          </a:prstGeom>
          <a:noFill/>
          <a:ln/>
        </p:spPr>
        <p:txBody>
          <a:bodyPr wrap="square" lIns="102108" tIns="51054" rIns="1021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71488" y="3626737"/>
            <a:ext cx="1953090" cy="257175"/>
          </a:xfrm>
          <a:prstGeom prst="rect">
            <a:avLst/>
          </a:prstGeom>
          <a:noFill/>
          <a:ln/>
        </p:spPr>
        <p:txBody>
          <a:bodyPr wrap="square" lIns="102108" tIns="51054" rIns="102108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Costo por lead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424578" y="3626737"/>
            <a:ext cx="2690347" cy="257175"/>
          </a:xfrm>
          <a:prstGeom prst="rect">
            <a:avLst/>
          </a:prstGeom>
          <a:noFill/>
          <a:ln/>
        </p:spPr>
        <p:txBody>
          <a:bodyPr wrap="square" lIns="102108" tIns="51054" rIns="102108" bIns="8509" rtlCol="0" anchor="ctr">
            <a:sp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$48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243513" y="2340862"/>
            <a:ext cx="3543300" cy="985838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lectura ejecutiva es que el embudo </a:t>
            </a:r>
            <a:r>
              <a:rPr lang="en-US" sz="12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 citas y firmas, pero el cuello de </a:t>
            </a:r>
            <a:r>
              <a:rPr lang="en-US" sz="12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botella principal está en </a:t>
            </a:r>
            <a:r>
              <a:rPr lang="en-US" sz="1200" b="1" dirty="0">
                <a:solidFill>
                  <a:srgbClr val="C74332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Leads → MQL</a:t>
            </a:r>
            <a:r>
              <a:rPr lang="en-US" sz="12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 </a:t>
            </a:r>
            <a:r>
              <a:rPr lang="en-US" sz="1200" b="1" dirty="0">
                <a:solidFill>
                  <a:srgbClr val="C74332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MQL → SQL</a:t>
            </a:r>
            <a:r>
              <a:rPr lang="en-US" sz="12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243513" y="3412424"/>
            <a:ext cx="35433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7069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reporte replica las métricas, colores de semáforo y costo por cita incorporados en la web app.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8" y="485775"/>
            <a:ext cx="6543675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7069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SEMÁFORO GLOBAL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14338" y="687586"/>
            <a:ext cx="6543675" cy="3060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250" spc="-1" kern="0" dirty="0">
                <a:solidFill>
                  <a:srgbClr val="1C1B19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El semáforo global divide adquisición y cierre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7158038" y="485775"/>
            <a:ext cx="1571625" cy="58578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6" name="Text 3"/>
          <p:cNvSpPr/>
          <p:nvPr/>
        </p:nvSpPr>
        <p:spPr>
          <a:xfrm>
            <a:off x="7158038" y="485775"/>
            <a:ext cx="157162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01–10 mayo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4338" y="1285875"/>
            <a:ext cx="8315325" cy="2561034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8" name="Shape 5"/>
          <p:cNvSpPr/>
          <p:nvPr/>
        </p:nvSpPr>
        <p:spPr>
          <a:xfrm>
            <a:off x="414338" y="1285875"/>
            <a:ext cx="1650653" cy="34290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9" name="Text 6"/>
          <p:cNvSpPr/>
          <p:nvPr/>
        </p:nvSpPr>
        <p:spPr>
          <a:xfrm>
            <a:off x="414338" y="1285875"/>
            <a:ext cx="1650653" cy="342900"/>
          </a:xfrm>
          <a:prstGeom prst="rect">
            <a:avLst/>
          </a:prstGeom>
          <a:noFill/>
          <a:ln/>
        </p:spPr>
        <p:txBody>
          <a:bodyPr wrap="squar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Etapa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064990" y="1285875"/>
            <a:ext cx="1285763" cy="34290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1" name="Text 8"/>
          <p:cNvSpPr/>
          <p:nvPr/>
        </p:nvSpPr>
        <p:spPr>
          <a:xfrm>
            <a:off x="2064990" y="1285875"/>
            <a:ext cx="1285763" cy="342900"/>
          </a:xfrm>
          <a:prstGeom prst="rect">
            <a:avLst/>
          </a:prstGeom>
          <a:noFill/>
          <a:ln/>
        </p:spPr>
        <p:txBody>
          <a:bodyPr wrap="non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Conversión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50754" y="1285875"/>
            <a:ext cx="1251021" cy="34290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3" name="Text 10"/>
          <p:cNvSpPr/>
          <p:nvPr/>
        </p:nvSpPr>
        <p:spPr>
          <a:xfrm>
            <a:off x="3350754" y="1285875"/>
            <a:ext cx="1251021" cy="342900"/>
          </a:xfrm>
          <a:prstGeom prst="rect">
            <a:avLst/>
          </a:prstGeom>
          <a:noFill/>
          <a:ln/>
        </p:spPr>
        <p:txBody>
          <a:bodyPr wrap="non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01775" y="1285875"/>
            <a:ext cx="4127888" cy="34290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601775" y="1285875"/>
            <a:ext cx="4127888" cy="342900"/>
          </a:xfrm>
          <a:prstGeom prst="rect">
            <a:avLst/>
          </a:prstGeom>
          <a:noFill/>
          <a:ln/>
        </p:spPr>
        <p:txBody>
          <a:bodyPr wrap="squar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Regla aplicada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14338" y="1628775"/>
            <a:ext cx="1650653" cy="442913"/>
          </a:xfrm>
          <a:prstGeom prst="rect">
            <a:avLst/>
          </a:prstGeom>
          <a:noFill/>
          <a:ln/>
        </p:spPr>
        <p:txBody>
          <a:bodyPr wrap="squar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Leads → MQL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064990" y="1628775"/>
            <a:ext cx="1285763" cy="442913"/>
          </a:xfrm>
          <a:prstGeom prst="rect">
            <a:avLst/>
          </a:prstGeom>
          <a:noFill/>
          <a:ln/>
        </p:spPr>
        <p:txBody>
          <a:bodyPr wrap="non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9.7%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465054" y="1727002"/>
            <a:ext cx="685800" cy="242888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19" name="Text 16"/>
          <p:cNvSpPr/>
          <p:nvPr/>
        </p:nvSpPr>
        <p:spPr>
          <a:xfrm>
            <a:off x="3465054" y="1727002"/>
            <a:ext cx="685800" cy="242888"/>
          </a:xfrm>
          <a:prstGeom prst="rect">
            <a:avLst/>
          </a:prstGeom>
          <a:noFill/>
          <a:ln/>
        </p:spPr>
        <p:txBody>
          <a:bodyPr wrap="none" lIns="0" tIns="5956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601775" y="1628775"/>
            <a:ext cx="4127888" cy="442913"/>
          </a:xfrm>
          <a:prstGeom prst="rect">
            <a:avLst/>
          </a:prstGeom>
          <a:noFill/>
          <a:ln/>
        </p:spPr>
        <p:txBody>
          <a:bodyPr wrap="squar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Rojo 0–16% · Amarillo 17–19% · Verde 20%+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14338" y="2071688"/>
            <a:ext cx="1650653" cy="442913"/>
          </a:xfrm>
          <a:prstGeom prst="rect">
            <a:avLst/>
          </a:prstGeom>
          <a:noFill/>
          <a:ln/>
        </p:spPr>
        <p:txBody>
          <a:bodyPr wrap="squar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MQL → SQL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064990" y="2071688"/>
            <a:ext cx="1285763" cy="442913"/>
          </a:xfrm>
          <a:prstGeom prst="rect">
            <a:avLst/>
          </a:prstGeom>
          <a:noFill/>
          <a:ln/>
        </p:spPr>
        <p:txBody>
          <a:bodyPr wrap="non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30.2%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465054" y="2171700"/>
            <a:ext cx="685800" cy="242888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24" name="Text 21"/>
          <p:cNvSpPr/>
          <p:nvPr/>
        </p:nvSpPr>
        <p:spPr>
          <a:xfrm>
            <a:off x="3465054" y="2171700"/>
            <a:ext cx="685800" cy="242888"/>
          </a:xfrm>
          <a:prstGeom prst="rect">
            <a:avLst/>
          </a:prstGeom>
          <a:noFill/>
          <a:ln/>
        </p:spPr>
        <p:txBody>
          <a:bodyPr wrap="none" lIns="0" tIns="5956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601775" y="2071688"/>
            <a:ext cx="4127888" cy="442913"/>
          </a:xfrm>
          <a:prstGeom prst="rect">
            <a:avLst/>
          </a:prstGeom>
          <a:noFill/>
          <a:ln/>
        </p:spPr>
        <p:txBody>
          <a:bodyPr wrap="squar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Rojo 0–64% · Amarillo 65–74% · Verde 75%+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14338" y="2514600"/>
            <a:ext cx="1650653" cy="442913"/>
          </a:xfrm>
          <a:prstGeom prst="rect">
            <a:avLst/>
          </a:prstGeom>
          <a:noFill/>
          <a:ln/>
        </p:spPr>
        <p:txBody>
          <a:bodyPr wrap="squar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→ Cita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2064990" y="2514600"/>
            <a:ext cx="1285763" cy="442913"/>
          </a:xfrm>
          <a:prstGeom prst="rect">
            <a:avLst/>
          </a:prstGeom>
          <a:noFill/>
          <a:ln/>
        </p:spPr>
        <p:txBody>
          <a:bodyPr wrap="non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93.8%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3465054" y="2614613"/>
            <a:ext cx="685800" cy="242888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29" name="Text 26"/>
          <p:cNvSpPr/>
          <p:nvPr/>
        </p:nvSpPr>
        <p:spPr>
          <a:xfrm>
            <a:off x="3465054" y="2614613"/>
            <a:ext cx="685800" cy="242888"/>
          </a:xfrm>
          <a:prstGeom prst="rect">
            <a:avLst/>
          </a:prstGeom>
          <a:noFill/>
          <a:ln/>
        </p:spPr>
        <p:txBody>
          <a:bodyPr wrap="none" lIns="0" tIns="5956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Verde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601775" y="2514600"/>
            <a:ext cx="4127888" cy="442913"/>
          </a:xfrm>
          <a:prstGeom prst="rect">
            <a:avLst/>
          </a:prstGeom>
          <a:noFill/>
          <a:ln/>
        </p:spPr>
        <p:txBody>
          <a:bodyPr wrap="squar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Rojo 0–42% · Amarillo 43–51% · Verde 52%+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14338" y="2957513"/>
            <a:ext cx="1650653" cy="442913"/>
          </a:xfrm>
          <a:prstGeom prst="rect">
            <a:avLst/>
          </a:prstGeom>
          <a:noFill/>
          <a:ln/>
        </p:spPr>
        <p:txBody>
          <a:bodyPr wrap="squar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Cita → Contrato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064990" y="2957513"/>
            <a:ext cx="1285763" cy="442913"/>
          </a:xfrm>
          <a:prstGeom prst="rect">
            <a:avLst/>
          </a:prstGeom>
          <a:noFill/>
          <a:ln/>
        </p:spPr>
        <p:txBody>
          <a:bodyPr wrap="non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26.7%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3465054" y="3057525"/>
            <a:ext cx="685800" cy="242888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34" name="Text 31"/>
          <p:cNvSpPr/>
          <p:nvPr/>
        </p:nvSpPr>
        <p:spPr>
          <a:xfrm>
            <a:off x="3465054" y="3057525"/>
            <a:ext cx="685800" cy="242888"/>
          </a:xfrm>
          <a:prstGeom prst="rect">
            <a:avLst/>
          </a:prstGeom>
          <a:noFill/>
          <a:ln/>
        </p:spPr>
        <p:txBody>
          <a:bodyPr wrap="none" lIns="0" tIns="5956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Verde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601775" y="2957513"/>
            <a:ext cx="4127888" cy="442913"/>
          </a:xfrm>
          <a:prstGeom prst="rect">
            <a:avLst/>
          </a:prstGeom>
          <a:noFill/>
          <a:ln/>
        </p:spPr>
        <p:txBody>
          <a:bodyPr wrap="squar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Rojo 0–10% · Amarillo 10.1–12.4% · Verde 12.5%+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14338" y="3400425"/>
            <a:ext cx="1650653" cy="442913"/>
          </a:xfrm>
          <a:prstGeom prst="rect">
            <a:avLst/>
          </a:prstGeom>
          <a:noFill/>
          <a:ln/>
        </p:spPr>
        <p:txBody>
          <a:bodyPr wrap="squar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Costo por Lead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2064990" y="3400425"/>
            <a:ext cx="1285763" cy="442913"/>
          </a:xfrm>
          <a:prstGeom prst="rect">
            <a:avLst/>
          </a:prstGeom>
          <a:noFill/>
          <a:ln/>
        </p:spPr>
        <p:txBody>
          <a:bodyPr wrap="non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$48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3465054" y="3500438"/>
            <a:ext cx="685800" cy="242888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39" name="Text 36"/>
          <p:cNvSpPr/>
          <p:nvPr/>
        </p:nvSpPr>
        <p:spPr>
          <a:xfrm>
            <a:off x="3465054" y="3500438"/>
            <a:ext cx="685800" cy="242888"/>
          </a:xfrm>
          <a:prstGeom prst="rect">
            <a:avLst/>
          </a:prstGeom>
          <a:noFill/>
          <a:ln/>
        </p:spPr>
        <p:txBody>
          <a:bodyPr wrap="none" lIns="0" tIns="5956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Verde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601775" y="3400425"/>
            <a:ext cx="4127888" cy="442913"/>
          </a:xfrm>
          <a:prstGeom prst="rect">
            <a:avLst/>
          </a:prstGeom>
          <a:noFill/>
          <a:ln/>
        </p:spPr>
        <p:txBody>
          <a:bodyPr wrap="square" lIns="136017" tIns="0" rIns="119126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Verde ≤$50 · Amarillo $51–$59 · Rojo $60+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14338" y="4032647"/>
            <a:ext cx="7000875" cy="810816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3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lectura central es clara: </a:t>
            </a:r>
            <a:r>
              <a:rPr lang="en-US" sz="1250" b="1" dirty="0">
                <a:solidFill>
                  <a:srgbClr val="C74332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la adquisición calificada está en rojo</a:t>
            </a:r>
            <a:r>
              <a:rPr lang="en-US" sz="13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mientras que la </a:t>
            </a:r>
            <a:r>
              <a:rPr lang="en-US" sz="13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agenda y el cierre muestran mejor respuesta cuando el lead llega correctamente </a:t>
            </a:r>
            <a:r>
              <a:rPr lang="en-US" sz="13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filtrado.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442913"/>
            <a:ext cx="63865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0695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DESGLOSE POR CLIENTE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85763" y="621506"/>
            <a:ext cx="5572125" cy="60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2200" spc="-1" kern="0" dirty="0">
                <a:solidFill>
                  <a:srgbClr val="1C1B19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HOGARES concentra la mejor conversión inicial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972300" y="442913"/>
            <a:ext cx="1785938" cy="55721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6" name="Text 3"/>
          <p:cNvSpPr/>
          <p:nvPr/>
        </p:nvSpPr>
        <p:spPr>
          <a:xfrm>
            <a:off x="7186613" y="628650"/>
            <a:ext cx="39826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Corte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4877" y="628650"/>
            <a:ext cx="95904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10 mayo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5763" y="1310543"/>
            <a:ext cx="6572250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tabla replica las métricas operativas añadidas a la web app: volumen del funnel, inversión por cliente y costo por cita calculado como inversión total entre citas totales.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85763" y="1802011"/>
            <a:ext cx="8372475" cy="2532459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10" name="Shape 7"/>
          <p:cNvSpPr/>
          <p:nvPr/>
        </p:nvSpPr>
        <p:spPr>
          <a:xfrm>
            <a:off x="385763" y="1802011"/>
            <a:ext cx="1735401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1" name="Text 8"/>
          <p:cNvSpPr/>
          <p:nvPr/>
        </p:nvSpPr>
        <p:spPr>
          <a:xfrm>
            <a:off x="385763" y="1802011"/>
            <a:ext cx="1735401" cy="300038"/>
          </a:xfrm>
          <a:prstGeom prst="rect">
            <a:avLst/>
          </a:prstGeom>
          <a:noFill/>
          <a:ln/>
        </p:spPr>
        <p:txBody>
          <a:bodyPr wrap="squar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Cliente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164" y="1802011"/>
            <a:ext cx="706757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3" name="Text 10"/>
          <p:cNvSpPr/>
          <p:nvPr/>
        </p:nvSpPr>
        <p:spPr>
          <a:xfrm>
            <a:off x="2121164" y="1802011"/>
            <a:ext cx="706757" cy="3000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Conv.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827920" y="1802011"/>
            <a:ext cx="618381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2827920" y="1802011"/>
            <a:ext cx="618381" cy="3000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MQL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446301" y="1802011"/>
            <a:ext cx="570970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446301" y="1802011"/>
            <a:ext cx="570970" cy="3000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SQL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017271" y="1802011"/>
            <a:ext cx="683065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017271" y="1802011"/>
            <a:ext cx="683065" cy="3000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Citas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700336" y="1802011"/>
            <a:ext cx="810202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1" name="Text 18"/>
          <p:cNvSpPr/>
          <p:nvPr/>
        </p:nvSpPr>
        <p:spPr>
          <a:xfrm>
            <a:off x="4700336" y="1802011"/>
            <a:ext cx="810202" cy="3000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Firmas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510538" y="1802011"/>
            <a:ext cx="1015166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5510538" y="1802011"/>
            <a:ext cx="1015166" cy="3000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Inversión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525704" y="1802011"/>
            <a:ext cx="1137028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5" name="Text 22"/>
          <p:cNvSpPr/>
          <p:nvPr/>
        </p:nvSpPr>
        <p:spPr>
          <a:xfrm>
            <a:off x="6525704" y="1802011"/>
            <a:ext cx="1137028" cy="3000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Costo/cita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662732" y="1802011"/>
            <a:ext cx="1095505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7662732" y="1802011"/>
            <a:ext cx="1095505" cy="3000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Eficiencia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85763" y="2102048"/>
            <a:ext cx="1735401" cy="371475"/>
          </a:xfrm>
          <a:prstGeom prst="rect">
            <a:avLst/>
          </a:prstGeom>
          <a:noFill/>
          <a:ln/>
        </p:spPr>
        <p:txBody>
          <a:bodyPr wrap="squar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INQ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121164" y="2102048"/>
            <a:ext cx="706757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150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2827920" y="2102048"/>
            <a:ext cx="618381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446301" y="2102048"/>
            <a:ext cx="570970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017271" y="2102048"/>
            <a:ext cx="683065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700336" y="2102048"/>
            <a:ext cx="810202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510538" y="2102048"/>
            <a:ext cx="1015166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$5,907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525704" y="2102048"/>
            <a:ext cx="1137028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$1,969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748457" y="2185988"/>
            <a:ext cx="585788" cy="20002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7" name="Text 34"/>
          <p:cNvSpPr/>
          <p:nvPr/>
        </p:nvSpPr>
        <p:spPr>
          <a:xfrm>
            <a:off x="7748457" y="2185988"/>
            <a:ext cx="585788" cy="200025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Media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85763" y="2473523"/>
            <a:ext cx="1735401" cy="371475"/>
          </a:xfrm>
          <a:prstGeom prst="rect">
            <a:avLst/>
          </a:prstGeom>
          <a:noFill/>
          <a:ln/>
        </p:spPr>
        <p:txBody>
          <a:bodyPr wrap="squar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GRUPO ELIJO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121164" y="2473523"/>
            <a:ext cx="706757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126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2827920" y="2473523"/>
            <a:ext cx="618381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3446301" y="2473523"/>
            <a:ext cx="570970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017271" y="2473523"/>
            <a:ext cx="683065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700336" y="2473523"/>
            <a:ext cx="810202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510538" y="2473523"/>
            <a:ext cx="1015166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$2,991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525704" y="2473523"/>
            <a:ext cx="1137028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$997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748457" y="2559248"/>
            <a:ext cx="585788" cy="200025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47" name="Text 44"/>
          <p:cNvSpPr/>
          <p:nvPr/>
        </p:nvSpPr>
        <p:spPr>
          <a:xfrm>
            <a:off x="7748457" y="2559248"/>
            <a:ext cx="585788" cy="200025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Alta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385763" y="2844998"/>
            <a:ext cx="1735401" cy="371475"/>
          </a:xfrm>
          <a:prstGeom prst="rect">
            <a:avLst/>
          </a:prstGeom>
          <a:noFill/>
          <a:ln/>
        </p:spPr>
        <p:txBody>
          <a:bodyPr wrap="squar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MANOS AL HOGAR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121164" y="2844998"/>
            <a:ext cx="706757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113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827920" y="2844998"/>
            <a:ext cx="618381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3446301" y="2844998"/>
            <a:ext cx="570970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4017271" y="2844998"/>
            <a:ext cx="683065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700336" y="2844998"/>
            <a:ext cx="810202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5510538" y="2844998"/>
            <a:ext cx="1015166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$7,417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6525704" y="2844998"/>
            <a:ext cx="1137028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$7,417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748457" y="2930723"/>
            <a:ext cx="585788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57" name="Text 54"/>
          <p:cNvSpPr/>
          <p:nvPr/>
        </p:nvSpPr>
        <p:spPr>
          <a:xfrm>
            <a:off x="7748457" y="2930723"/>
            <a:ext cx="585788" cy="200025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Crítica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385763" y="3216473"/>
            <a:ext cx="8372475" cy="371475"/>
          </a:xfrm>
          <a:prstGeom prst="rect">
            <a:avLst/>
          </a:prstGeom>
          <a:solidFill>
            <a:srgbClr val="EFE5CE"/>
          </a:solidFill>
          <a:ln/>
        </p:spPr>
      </p:sp>
      <p:sp>
        <p:nvSpPr>
          <p:cNvPr id="59" name="Text 56"/>
          <p:cNvSpPr/>
          <p:nvPr/>
        </p:nvSpPr>
        <p:spPr>
          <a:xfrm>
            <a:off x="385763" y="3216473"/>
            <a:ext cx="1735401" cy="371475"/>
          </a:xfrm>
          <a:prstGeom prst="rect">
            <a:avLst/>
          </a:prstGeom>
          <a:noFill/>
          <a:ln/>
        </p:spPr>
        <p:txBody>
          <a:bodyPr wrap="squar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HOGARES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2121164" y="3216473"/>
            <a:ext cx="706757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77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2827920" y="3216473"/>
            <a:ext cx="618381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3446301" y="3216473"/>
            <a:ext cx="570970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4017271" y="3216473"/>
            <a:ext cx="683065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4700336" y="3216473"/>
            <a:ext cx="810202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5510538" y="3216473"/>
            <a:ext cx="1015166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$4,377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6525704" y="3216473"/>
            <a:ext cx="1137028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$875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7748457" y="3302198"/>
            <a:ext cx="585788" cy="200025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68" name="Text 65"/>
          <p:cNvSpPr/>
          <p:nvPr/>
        </p:nvSpPr>
        <p:spPr>
          <a:xfrm>
            <a:off x="7748457" y="3302198"/>
            <a:ext cx="585788" cy="200025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Alta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385763" y="3587948"/>
            <a:ext cx="1735401" cy="371475"/>
          </a:xfrm>
          <a:prstGeom prst="rect">
            <a:avLst/>
          </a:prstGeom>
          <a:noFill/>
          <a:ln/>
        </p:spPr>
        <p:txBody>
          <a:bodyPr wrap="squar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DOS HOGARES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2121164" y="3587948"/>
            <a:ext cx="706757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2827920" y="3587948"/>
            <a:ext cx="618381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3446301" y="3587948"/>
            <a:ext cx="570970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4017271" y="3587948"/>
            <a:ext cx="683065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4700336" y="3587948"/>
            <a:ext cx="810202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</a:t>
            </a:r>
            <a:endParaRPr lang="en-US" sz="850" dirty="0"/>
          </a:p>
        </p:txBody>
      </p:sp>
      <p:sp>
        <p:nvSpPr>
          <p:cNvPr id="75" name="Text 72"/>
          <p:cNvSpPr/>
          <p:nvPr/>
        </p:nvSpPr>
        <p:spPr>
          <a:xfrm>
            <a:off x="5510538" y="3587948"/>
            <a:ext cx="1015166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$2,378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6525704" y="3587948"/>
            <a:ext cx="1137028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$2,378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7748457" y="3673673"/>
            <a:ext cx="585788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78" name="Text 75"/>
          <p:cNvSpPr/>
          <p:nvPr/>
        </p:nvSpPr>
        <p:spPr>
          <a:xfrm>
            <a:off x="7748457" y="3673673"/>
            <a:ext cx="585788" cy="200025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Crítica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385763" y="3959423"/>
            <a:ext cx="1735401" cy="371475"/>
          </a:xfrm>
          <a:prstGeom prst="rect">
            <a:avLst/>
          </a:prstGeom>
          <a:noFill/>
          <a:ln/>
        </p:spPr>
        <p:txBody>
          <a:bodyPr wrap="squar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INSPIRA</a:t>
            </a:r>
            <a:endParaRPr lang="en-US" sz="800" dirty="0"/>
          </a:p>
        </p:txBody>
      </p:sp>
      <p:sp>
        <p:nvSpPr>
          <p:cNvPr id="80" name="Text 77"/>
          <p:cNvSpPr/>
          <p:nvPr/>
        </p:nvSpPr>
        <p:spPr>
          <a:xfrm>
            <a:off x="2121164" y="3959423"/>
            <a:ext cx="706757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31</a:t>
            </a:r>
            <a:endParaRPr lang="en-US" sz="850" dirty="0"/>
          </a:p>
        </p:txBody>
      </p:sp>
      <p:sp>
        <p:nvSpPr>
          <p:cNvPr id="81" name="Text 78"/>
          <p:cNvSpPr/>
          <p:nvPr/>
        </p:nvSpPr>
        <p:spPr>
          <a:xfrm>
            <a:off x="2827920" y="3959423"/>
            <a:ext cx="618381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850" dirty="0"/>
          </a:p>
        </p:txBody>
      </p:sp>
      <p:sp>
        <p:nvSpPr>
          <p:cNvPr id="82" name="Text 79"/>
          <p:cNvSpPr/>
          <p:nvPr/>
        </p:nvSpPr>
        <p:spPr>
          <a:xfrm>
            <a:off x="3446301" y="3959423"/>
            <a:ext cx="570970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4017271" y="3959423"/>
            <a:ext cx="683065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850" dirty="0"/>
          </a:p>
        </p:txBody>
      </p:sp>
      <p:sp>
        <p:nvSpPr>
          <p:cNvPr id="84" name="Text 81"/>
          <p:cNvSpPr/>
          <p:nvPr/>
        </p:nvSpPr>
        <p:spPr>
          <a:xfrm>
            <a:off x="4700336" y="3959423"/>
            <a:ext cx="810202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</a:t>
            </a:r>
            <a:endParaRPr lang="en-US" sz="850" dirty="0"/>
          </a:p>
        </p:txBody>
      </p:sp>
      <p:sp>
        <p:nvSpPr>
          <p:cNvPr id="85" name="Text 82"/>
          <p:cNvSpPr/>
          <p:nvPr/>
        </p:nvSpPr>
        <p:spPr>
          <a:xfrm>
            <a:off x="5510538" y="3959423"/>
            <a:ext cx="1015166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$2,901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6525704" y="3959423"/>
            <a:ext cx="1137028" cy="371475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$1,450</a:t>
            </a:r>
            <a:endParaRPr lang="en-US" sz="800" dirty="0"/>
          </a:p>
        </p:txBody>
      </p:sp>
      <p:sp>
        <p:nvSpPr>
          <p:cNvPr id="87" name="Shape 84"/>
          <p:cNvSpPr/>
          <p:nvPr/>
        </p:nvSpPr>
        <p:spPr>
          <a:xfrm>
            <a:off x="7748457" y="4045148"/>
            <a:ext cx="585788" cy="20002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88" name="Text 85"/>
          <p:cNvSpPr/>
          <p:nvPr/>
        </p:nvSpPr>
        <p:spPr>
          <a:xfrm>
            <a:off x="7748457" y="4045148"/>
            <a:ext cx="585788" cy="200025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Media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85763" y="4620220"/>
            <a:ext cx="2714625" cy="51435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90" name="Text 87"/>
          <p:cNvSpPr/>
          <p:nvPr/>
        </p:nvSpPr>
        <p:spPr>
          <a:xfrm>
            <a:off x="500063" y="4705945"/>
            <a:ext cx="24860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F6F2EA">
                    <a:alpha val="82000"/>
                  </a:srgbClr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MAYOR VOLUMEN</a:t>
            </a:r>
            <a:endParaRPr lang="en-US" sz="600" dirty="0"/>
          </a:p>
        </p:txBody>
      </p:sp>
      <p:sp>
        <p:nvSpPr>
          <p:cNvPr id="91" name="Text 88"/>
          <p:cNvSpPr/>
          <p:nvPr/>
        </p:nvSpPr>
        <p:spPr>
          <a:xfrm>
            <a:off x="500063" y="4875609"/>
            <a:ext cx="248602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spc="-1" kern="0" dirty="0">
                <a:solidFill>
                  <a:srgbClr val="F6F2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INQ · 150 conversaciones</a:t>
            </a:r>
            <a:endParaRPr lang="en-US" sz="1250" dirty="0"/>
          </a:p>
        </p:txBody>
      </p:sp>
      <p:sp>
        <p:nvSpPr>
          <p:cNvPr id="92" name="Shape 89"/>
          <p:cNvSpPr/>
          <p:nvPr/>
        </p:nvSpPr>
        <p:spPr>
          <a:xfrm>
            <a:off x="3214688" y="4620220"/>
            <a:ext cx="2714625" cy="514350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93" name="Text 90"/>
          <p:cNvSpPr/>
          <p:nvPr/>
        </p:nvSpPr>
        <p:spPr>
          <a:xfrm>
            <a:off x="3328988" y="4705945"/>
            <a:ext cx="24860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F6F2EA">
                    <a:alpha val="82000"/>
                  </a:srgbClr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MEJOR COSTO/CITA</a:t>
            </a:r>
            <a:endParaRPr lang="en-US" sz="600" dirty="0"/>
          </a:p>
        </p:txBody>
      </p:sp>
      <p:sp>
        <p:nvSpPr>
          <p:cNvPr id="94" name="Text 91"/>
          <p:cNvSpPr/>
          <p:nvPr/>
        </p:nvSpPr>
        <p:spPr>
          <a:xfrm>
            <a:off x="3328988" y="4875609"/>
            <a:ext cx="248602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spc="-1" kern="0" dirty="0">
                <a:solidFill>
                  <a:srgbClr val="F6F2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HOGARES · $875</a:t>
            </a:r>
            <a:endParaRPr lang="en-US" sz="1250" dirty="0"/>
          </a:p>
        </p:txBody>
      </p:sp>
      <p:sp>
        <p:nvSpPr>
          <p:cNvPr id="95" name="Shape 92"/>
          <p:cNvSpPr/>
          <p:nvPr/>
        </p:nvSpPr>
        <p:spPr>
          <a:xfrm>
            <a:off x="6043613" y="4620220"/>
            <a:ext cx="2714625" cy="51435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6" name="Text 93"/>
          <p:cNvSpPr/>
          <p:nvPr/>
        </p:nvSpPr>
        <p:spPr>
          <a:xfrm>
            <a:off x="6157913" y="4705945"/>
            <a:ext cx="24860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1C1B19">
                    <a:alpha val="82000"/>
                  </a:srgbClr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RIESGO FINANCIERO</a:t>
            </a:r>
            <a:endParaRPr lang="en-US" sz="600" dirty="0"/>
          </a:p>
        </p:txBody>
      </p:sp>
      <p:sp>
        <p:nvSpPr>
          <p:cNvPr id="97" name="Text 94"/>
          <p:cNvSpPr/>
          <p:nvPr/>
        </p:nvSpPr>
        <p:spPr>
          <a:xfrm>
            <a:off x="6157913" y="4875609"/>
            <a:ext cx="248602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spc="-1" kern="0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MANOS · $7,417/cita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8" y="485775"/>
            <a:ext cx="6543675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7069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EFICIENCIA DE INVERSIÓN POR CLIENTE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14338" y="687586"/>
            <a:ext cx="5857875" cy="2987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050" b="1" spc="-1" kern="0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La inversión más alta no garantiza eficiencia</a:t>
            </a:r>
            <a:endParaRPr lang="en-US" sz="2050" dirty="0"/>
          </a:p>
        </p:txBody>
      </p:sp>
      <p:sp>
        <p:nvSpPr>
          <p:cNvPr id="5" name="Shape 2"/>
          <p:cNvSpPr/>
          <p:nvPr/>
        </p:nvSpPr>
        <p:spPr>
          <a:xfrm>
            <a:off x="7172325" y="485775"/>
            <a:ext cx="1557338" cy="55721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6" name="Text 3"/>
          <p:cNvSpPr/>
          <p:nvPr/>
        </p:nvSpPr>
        <p:spPr>
          <a:xfrm>
            <a:off x="7172325" y="485775"/>
            <a:ext cx="155733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01–10 mayo 2026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14338" y="1243013"/>
            <a:ext cx="2143125" cy="2789634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8" name="Text 5"/>
          <p:cNvSpPr/>
          <p:nvPr/>
        </p:nvSpPr>
        <p:spPr>
          <a:xfrm>
            <a:off x="585788" y="1414463"/>
            <a:ext cx="18002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D9A44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LECTURA RÁPIDA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85788" y="1828800"/>
            <a:ext cx="18002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50" spc="-1" kern="0" dirty="0">
                <a:solidFill>
                  <a:srgbClr val="71C99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$875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85788" y="2135981"/>
            <a:ext cx="1800225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Mejor costo por cita: HOGARES con 5 citas.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85788" y="2678906"/>
            <a:ext cx="18002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50" spc="-1" kern="0" dirty="0">
                <a:solidFill>
                  <a:srgbClr val="F08779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$7,417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85788" y="2986088"/>
            <a:ext cx="1800225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Costo por cita más alto: MANOS AL HOGAR.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85788" y="3529013"/>
            <a:ext cx="18002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50" spc="-1" kern="0" dirty="0">
                <a:solidFill>
                  <a:srgbClr val="F6F2EA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$1,731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585788" y="3836194"/>
            <a:ext cx="180022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Costo por cita global del periodo.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743200" y="1243013"/>
            <a:ext cx="5986463" cy="2789634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16" name="Shape 13"/>
          <p:cNvSpPr/>
          <p:nvPr/>
        </p:nvSpPr>
        <p:spPr>
          <a:xfrm>
            <a:off x="2743200" y="1243013"/>
            <a:ext cx="1216865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0" y="1243013"/>
            <a:ext cx="1216865" cy="3000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CLIENTE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3960065" y="1243013"/>
            <a:ext cx="734606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3960065" y="1243013"/>
            <a:ext cx="734606" cy="3000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INVERSIÓN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694672" y="1243013"/>
            <a:ext cx="471013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1" name="Text 18"/>
          <p:cNvSpPr/>
          <p:nvPr/>
        </p:nvSpPr>
        <p:spPr>
          <a:xfrm>
            <a:off x="4694672" y="1243013"/>
            <a:ext cx="471013" cy="3000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CITAS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165685" y="1243013"/>
            <a:ext cx="813439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5165685" y="1243013"/>
            <a:ext cx="813439" cy="3000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COSTO/CITA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5979123" y="1243013"/>
            <a:ext cx="2750539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5" name="Text 22"/>
          <p:cNvSpPr/>
          <p:nvPr/>
        </p:nvSpPr>
        <p:spPr>
          <a:xfrm>
            <a:off x="5979123" y="1243013"/>
            <a:ext cx="2750539" cy="300038"/>
          </a:xfrm>
          <a:prstGeom prst="rect">
            <a:avLst/>
          </a:prstGeom>
          <a:noFill/>
          <a:ln/>
        </p:spPr>
        <p:txBody>
          <a:bodyPr wrap="squar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LECTURA EJECUTIVA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2743200" y="1543050"/>
            <a:ext cx="1216865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MANOS AL HOGAR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960065" y="1543050"/>
            <a:ext cx="734606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$7,417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694672" y="1543050"/>
            <a:ext cx="471013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165685" y="1543050"/>
            <a:ext cx="813439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74332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$7,417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979123" y="1543050"/>
            <a:ext cx="2750539" cy="414338"/>
          </a:xfrm>
          <a:prstGeom prst="rect">
            <a:avLst/>
          </a:prstGeom>
          <a:noFill/>
          <a:ln/>
        </p:spPr>
        <p:txBody>
          <a:bodyPr wrap="square" lIns="102108" tIns="0" rIns="85090" bIns="0" rtlCol="0" anchor="ctr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Gasto alto con baja captura de citas.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2743200" y="1957388"/>
            <a:ext cx="1216865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INQ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960065" y="1957388"/>
            <a:ext cx="734606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$5,907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694672" y="1957388"/>
            <a:ext cx="471013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165685" y="1957388"/>
            <a:ext cx="813439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$1,969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979123" y="1957388"/>
            <a:ext cx="2750539" cy="414338"/>
          </a:xfrm>
          <a:prstGeom prst="rect">
            <a:avLst/>
          </a:prstGeom>
          <a:noFill/>
          <a:ln/>
        </p:spPr>
        <p:txBody>
          <a:bodyPr wrap="square" lIns="102108" tIns="0" rIns="85090" bIns="0" rtlCol="0" anchor="ctr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Buen cierre a firma, pero baja calificación inicial.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2743200" y="2371725"/>
            <a:ext cx="1216865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HOGARES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960065" y="2371725"/>
            <a:ext cx="734606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$4,377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4694672" y="2371725"/>
            <a:ext cx="471013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5165685" y="2371725"/>
            <a:ext cx="813439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8A4C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$875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5979123" y="2371725"/>
            <a:ext cx="2750539" cy="414338"/>
          </a:xfrm>
          <a:prstGeom prst="rect">
            <a:avLst/>
          </a:prstGeom>
          <a:noFill/>
          <a:ln/>
        </p:spPr>
        <p:txBody>
          <a:bodyPr wrap="square" lIns="102108" tIns="0" rIns="85090" bIns="0" rtlCol="0" anchor="ctr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Mejor eficiencia del periodo.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2743200" y="2786063"/>
            <a:ext cx="1216865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GRUPO ELIJO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3960065" y="2786063"/>
            <a:ext cx="734606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$2,991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4694672" y="2786063"/>
            <a:ext cx="471013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5165685" y="2786063"/>
            <a:ext cx="813439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8A4C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$997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5979123" y="2786063"/>
            <a:ext cx="2750539" cy="414338"/>
          </a:xfrm>
          <a:prstGeom prst="rect">
            <a:avLst/>
          </a:prstGeom>
          <a:noFill/>
          <a:ln/>
        </p:spPr>
        <p:txBody>
          <a:bodyPr wrap="square" lIns="102108" tIns="0" rIns="85090" bIns="0" rtlCol="0" anchor="ctr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Citas eficientes, falta convertir a firma.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2743200" y="3200400"/>
            <a:ext cx="1216865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INSPIRA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3960065" y="3200400"/>
            <a:ext cx="734606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$2,901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694672" y="3200400"/>
            <a:ext cx="471013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5165685" y="3200400"/>
            <a:ext cx="813439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$1,450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5979123" y="3200400"/>
            <a:ext cx="2750539" cy="414338"/>
          </a:xfrm>
          <a:prstGeom prst="rect">
            <a:avLst/>
          </a:prstGeom>
          <a:noFill/>
          <a:ln/>
        </p:spPr>
        <p:txBody>
          <a:bodyPr wrap="square" lIns="102108" tIns="0" rIns="85090" bIns="0" rtlCol="0" anchor="ctr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Hay MQL sin SQL; revisar avance comercial.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2743200" y="3614738"/>
            <a:ext cx="1216865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DOS HOGARES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3960065" y="3614738"/>
            <a:ext cx="734606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$2,378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4694672" y="3614738"/>
            <a:ext cx="471013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5165685" y="3614738"/>
            <a:ext cx="813439" cy="414338"/>
          </a:xfrm>
          <a:prstGeom prst="rect">
            <a:avLst/>
          </a:prstGeom>
          <a:noFill/>
          <a:ln/>
        </p:spPr>
        <p:txBody>
          <a:bodyPr wrap="none" lIns="102108" tIns="0" rIns="8509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$2,378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5979123" y="3614738"/>
            <a:ext cx="2750539" cy="414338"/>
          </a:xfrm>
          <a:prstGeom prst="rect">
            <a:avLst/>
          </a:prstGeom>
          <a:noFill/>
          <a:ln/>
        </p:spPr>
        <p:txBody>
          <a:bodyPr wrap="square" lIns="102108" tIns="0" rIns="85090" bIns="0" rtlCol="0" anchor="ctr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Cero MQL registrado; revisar calidad de conversación.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414338" y="4175522"/>
            <a:ext cx="7286625" cy="520043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inversión debe priorizarse donde existe capacidad de convertir a MQL y a cita, </a:t>
            </a:r>
            <a:r>
              <a:rPr lang="en-US" sz="1100" b="1" dirty="0">
                <a:solidFill>
                  <a:srgbClr val="C74332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no solo donde hay volumen o gasto acumulado</a:t>
            </a:r>
            <a:r>
              <a:rPr lang="en-US" sz="11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934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457200"/>
            <a:ext cx="670083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0695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SEMÁFORO POR CLIENTE · ADQUISICIÓN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85763" y="642938"/>
            <a:ext cx="6700838" cy="291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150" spc="-1" kern="0" dirty="0">
                <a:solidFill>
                  <a:srgbClr val="1C1B19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La adquisición calificada concentra los focos rojos</a:t>
            </a:r>
            <a:endParaRPr lang="en-US" sz="2150" dirty="0"/>
          </a:p>
        </p:txBody>
      </p:sp>
      <p:sp>
        <p:nvSpPr>
          <p:cNvPr id="5" name="Shape 2"/>
          <p:cNvSpPr/>
          <p:nvPr/>
        </p:nvSpPr>
        <p:spPr>
          <a:xfrm>
            <a:off x="7258050" y="457200"/>
            <a:ext cx="1500188" cy="55721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6" name="Text 3"/>
          <p:cNvSpPr/>
          <p:nvPr/>
        </p:nvSpPr>
        <p:spPr>
          <a:xfrm>
            <a:off x="7445573" y="657755"/>
            <a:ext cx="387548" cy="156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01–10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833122" y="657755"/>
            <a:ext cx="737592" cy="156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mayo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85763" y="1143000"/>
            <a:ext cx="6143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Regla visual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1071563" y="1143000"/>
            <a:ext cx="614363" cy="185738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10" name="Text 7"/>
          <p:cNvSpPr/>
          <p:nvPr/>
        </p:nvSpPr>
        <p:spPr>
          <a:xfrm>
            <a:off x="1071563" y="1143000"/>
            <a:ext cx="6143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Verde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1757363" y="1143000"/>
            <a:ext cx="614363" cy="18573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2" name="Text 9"/>
          <p:cNvSpPr/>
          <p:nvPr/>
        </p:nvSpPr>
        <p:spPr>
          <a:xfrm>
            <a:off x="1757363" y="1143000"/>
            <a:ext cx="6143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Amarillo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2443163" y="1143000"/>
            <a:ext cx="614363" cy="185738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14" name="Text 11"/>
          <p:cNvSpPr/>
          <p:nvPr/>
        </p:nvSpPr>
        <p:spPr>
          <a:xfrm>
            <a:off x="2443163" y="1143000"/>
            <a:ext cx="6143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385763" y="1457325"/>
            <a:ext cx="8372475" cy="2789634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16" name="Shape 13"/>
          <p:cNvSpPr/>
          <p:nvPr/>
        </p:nvSpPr>
        <p:spPr>
          <a:xfrm>
            <a:off x="385763" y="1457325"/>
            <a:ext cx="1507052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85763" y="1457325"/>
            <a:ext cx="1507052" cy="300038"/>
          </a:xfrm>
          <a:prstGeom prst="rect">
            <a:avLst/>
          </a:prstGeom>
          <a:noFill/>
          <a:ln/>
        </p:spPr>
        <p:txBody>
          <a:bodyPr wrap="square" lIns="85090" tIns="76581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CLIENTE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1892815" y="1457325"/>
            <a:ext cx="1004674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1892815" y="1457325"/>
            <a:ext cx="1004674" cy="300038"/>
          </a:xfrm>
          <a:prstGeom prst="rect">
            <a:avLst/>
          </a:prstGeom>
          <a:noFill/>
          <a:ln/>
        </p:spPr>
        <p:txBody>
          <a:bodyPr wrap="none" lIns="85090" tIns="76581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LEADS → MQL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2897488" y="1457325"/>
            <a:ext cx="1004674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1" name="Text 18"/>
          <p:cNvSpPr/>
          <p:nvPr/>
        </p:nvSpPr>
        <p:spPr>
          <a:xfrm>
            <a:off x="2897488" y="1457325"/>
            <a:ext cx="1004674" cy="300038"/>
          </a:xfrm>
          <a:prstGeom prst="rect">
            <a:avLst/>
          </a:prstGeom>
          <a:noFill/>
          <a:ln/>
        </p:spPr>
        <p:txBody>
          <a:bodyPr wrap="none" lIns="85090" tIns="76581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COLOR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3902162" y="1457325"/>
            <a:ext cx="1004674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3902162" y="1457325"/>
            <a:ext cx="1004674" cy="300038"/>
          </a:xfrm>
          <a:prstGeom prst="rect">
            <a:avLst/>
          </a:prstGeom>
          <a:noFill/>
          <a:ln/>
        </p:spPr>
        <p:txBody>
          <a:bodyPr wrap="none" lIns="85090" tIns="76581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MQL → SQL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4906835" y="1457325"/>
            <a:ext cx="1004674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5" name="Text 22"/>
          <p:cNvSpPr/>
          <p:nvPr/>
        </p:nvSpPr>
        <p:spPr>
          <a:xfrm>
            <a:off x="4906835" y="1457325"/>
            <a:ext cx="1004674" cy="300038"/>
          </a:xfrm>
          <a:prstGeom prst="rect">
            <a:avLst/>
          </a:prstGeom>
          <a:noFill/>
          <a:ln/>
        </p:spPr>
        <p:txBody>
          <a:bodyPr wrap="none" lIns="85090" tIns="76581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COLOR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5911509" y="1457325"/>
            <a:ext cx="1004674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11509" y="1457325"/>
            <a:ext cx="1004674" cy="300038"/>
          </a:xfrm>
          <a:prstGeom prst="rect">
            <a:avLst/>
          </a:prstGeom>
          <a:noFill/>
          <a:ln/>
        </p:spPr>
        <p:txBody>
          <a:bodyPr wrap="none" lIns="85090" tIns="76581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COSTO/LEAD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6916182" y="1457325"/>
            <a:ext cx="1004674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9" name="Text 26"/>
          <p:cNvSpPr/>
          <p:nvPr/>
        </p:nvSpPr>
        <p:spPr>
          <a:xfrm>
            <a:off x="6916182" y="1457325"/>
            <a:ext cx="1004674" cy="300038"/>
          </a:xfrm>
          <a:prstGeom prst="rect">
            <a:avLst/>
          </a:prstGeom>
          <a:noFill/>
          <a:ln/>
        </p:spPr>
        <p:txBody>
          <a:bodyPr wrap="none" lIns="85090" tIns="76581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COLOR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7920856" y="1457325"/>
            <a:ext cx="837381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7920856" y="1457325"/>
            <a:ext cx="837381" cy="300038"/>
          </a:xfrm>
          <a:prstGeom prst="rect">
            <a:avLst/>
          </a:prstGeom>
          <a:noFill/>
          <a:ln/>
        </p:spPr>
        <p:txBody>
          <a:bodyPr wrap="none" lIns="85090" tIns="76581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LEADS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385763" y="1757363"/>
            <a:ext cx="1507052" cy="414338"/>
          </a:xfrm>
          <a:prstGeom prst="rect">
            <a:avLst/>
          </a:prstGeom>
          <a:noFill/>
          <a:ln/>
        </p:spPr>
        <p:txBody>
          <a:bodyPr wrap="squar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HOGARES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892815" y="1757363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27.3%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968926" y="1891308"/>
            <a:ext cx="557213" cy="200025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35" name="Text 32"/>
          <p:cNvSpPr/>
          <p:nvPr/>
        </p:nvSpPr>
        <p:spPr>
          <a:xfrm>
            <a:off x="2968926" y="1891308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Verde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3902162" y="1757363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52.4%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978273" y="1891308"/>
            <a:ext cx="557213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38" name="Text 35"/>
          <p:cNvSpPr/>
          <p:nvPr/>
        </p:nvSpPr>
        <p:spPr>
          <a:xfrm>
            <a:off x="4978273" y="1891308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5911509" y="1757363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$57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987620" y="1891308"/>
            <a:ext cx="557213" cy="20002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1" name="Text 38"/>
          <p:cNvSpPr/>
          <p:nvPr/>
        </p:nvSpPr>
        <p:spPr>
          <a:xfrm>
            <a:off x="6987620" y="1891308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Amarillo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7920856" y="1757363"/>
            <a:ext cx="837381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77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85763" y="2171700"/>
            <a:ext cx="1507052" cy="414338"/>
          </a:xfrm>
          <a:prstGeom prst="rect">
            <a:avLst/>
          </a:prstGeom>
          <a:noFill/>
          <a:ln/>
        </p:spPr>
        <p:txBody>
          <a:bodyPr wrap="squar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INSPIRA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1892815" y="2171700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12.9%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968926" y="2307431"/>
            <a:ext cx="557213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46" name="Text 43"/>
          <p:cNvSpPr/>
          <p:nvPr/>
        </p:nvSpPr>
        <p:spPr>
          <a:xfrm>
            <a:off x="2968926" y="2307431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3902162" y="2171700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0.0%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978273" y="2307431"/>
            <a:ext cx="557213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49" name="Text 46"/>
          <p:cNvSpPr/>
          <p:nvPr/>
        </p:nvSpPr>
        <p:spPr>
          <a:xfrm>
            <a:off x="4978273" y="2307431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50" dirty="0"/>
          </a:p>
        </p:txBody>
      </p:sp>
      <p:sp>
        <p:nvSpPr>
          <p:cNvPr id="50" name="Text 47"/>
          <p:cNvSpPr/>
          <p:nvPr/>
        </p:nvSpPr>
        <p:spPr>
          <a:xfrm>
            <a:off x="5911509" y="2171700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$94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987620" y="2307431"/>
            <a:ext cx="557213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52" name="Text 49"/>
          <p:cNvSpPr/>
          <p:nvPr/>
        </p:nvSpPr>
        <p:spPr>
          <a:xfrm>
            <a:off x="6987620" y="2307431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7920856" y="2171700"/>
            <a:ext cx="837381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385763" y="2586038"/>
            <a:ext cx="1507052" cy="414338"/>
          </a:xfrm>
          <a:prstGeom prst="rect">
            <a:avLst/>
          </a:prstGeom>
          <a:noFill/>
          <a:ln/>
        </p:spPr>
        <p:txBody>
          <a:bodyPr wrap="squar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GRUPO ELIJO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1892815" y="2586038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10.3%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2968926" y="2721769"/>
            <a:ext cx="557213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57" name="Text 54"/>
          <p:cNvSpPr/>
          <p:nvPr/>
        </p:nvSpPr>
        <p:spPr>
          <a:xfrm>
            <a:off x="2968926" y="2721769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3902162" y="2586038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15.4%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4978273" y="2721769"/>
            <a:ext cx="557213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60" name="Text 57"/>
          <p:cNvSpPr/>
          <p:nvPr/>
        </p:nvSpPr>
        <p:spPr>
          <a:xfrm>
            <a:off x="4978273" y="2721769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50" dirty="0"/>
          </a:p>
        </p:txBody>
      </p:sp>
      <p:sp>
        <p:nvSpPr>
          <p:cNvPr id="61" name="Text 58"/>
          <p:cNvSpPr/>
          <p:nvPr/>
        </p:nvSpPr>
        <p:spPr>
          <a:xfrm>
            <a:off x="5911509" y="2586038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$24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6987620" y="2721769"/>
            <a:ext cx="557213" cy="200025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63" name="Text 60"/>
          <p:cNvSpPr/>
          <p:nvPr/>
        </p:nvSpPr>
        <p:spPr>
          <a:xfrm>
            <a:off x="6987620" y="2721769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Verde</a:t>
            </a:r>
            <a:endParaRPr lang="en-US" sz="650" dirty="0"/>
          </a:p>
        </p:txBody>
      </p:sp>
      <p:sp>
        <p:nvSpPr>
          <p:cNvPr id="64" name="Text 61"/>
          <p:cNvSpPr/>
          <p:nvPr/>
        </p:nvSpPr>
        <p:spPr>
          <a:xfrm>
            <a:off x="7920856" y="2586038"/>
            <a:ext cx="837381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126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385763" y="3000375"/>
            <a:ext cx="1507052" cy="414338"/>
          </a:xfrm>
          <a:prstGeom prst="rect">
            <a:avLst/>
          </a:prstGeom>
          <a:noFill/>
          <a:ln/>
        </p:spPr>
        <p:txBody>
          <a:bodyPr wrap="squar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INQ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1892815" y="3000375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6.0%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2968926" y="3136106"/>
            <a:ext cx="557213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68" name="Text 65"/>
          <p:cNvSpPr/>
          <p:nvPr/>
        </p:nvSpPr>
        <p:spPr>
          <a:xfrm>
            <a:off x="2968926" y="3136106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50" dirty="0"/>
          </a:p>
        </p:txBody>
      </p:sp>
      <p:sp>
        <p:nvSpPr>
          <p:cNvPr id="69" name="Text 66"/>
          <p:cNvSpPr/>
          <p:nvPr/>
        </p:nvSpPr>
        <p:spPr>
          <a:xfrm>
            <a:off x="3902162" y="3000375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22.2%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4978273" y="3136106"/>
            <a:ext cx="557213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71" name="Text 68"/>
          <p:cNvSpPr/>
          <p:nvPr/>
        </p:nvSpPr>
        <p:spPr>
          <a:xfrm>
            <a:off x="4978273" y="3136106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50" dirty="0"/>
          </a:p>
        </p:txBody>
      </p:sp>
      <p:sp>
        <p:nvSpPr>
          <p:cNvPr id="72" name="Text 69"/>
          <p:cNvSpPr/>
          <p:nvPr/>
        </p:nvSpPr>
        <p:spPr>
          <a:xfrm>
            <a:off x="5911509" y="3000375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$39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6987620" y="3136106"/>
            <a:ext cx="557213" cy="200025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74" name="Text 71"/>
          <p:cNvSpPr/>
          <p:nvPr/>
        </p:nvSpPr>
        <p:spPr>
          <a:xfrm>
            <a:off x="6987620" y="3136106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Verde</a:t>
            </a:r>
            <a:endParaRPr lang="en-US" sz="650" dirty="0"/>
          </a:p>
        </p:txBody>
      </p:sp>
      <p:sp>
        <p:nvSpPr>
          <p:cNvPr id="75" name="Text 72"/>
          <p:cNvSpPr/>
          <p:nvPr/>
        </p:nvSpPr>
        <p:spPr>
          <a:xfrm>
            <a:off x="7920856" y="3000375"/>
            <a:ext cx="837381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150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385763" y="3414713"/>
            <a:ext cx="1507052" cy="414338"/>
          </a:xfrm>
          <a:prstGeom prst="rect">
            <a:avLst/>
          </a:prstGeom>
          <a:noFill/>
          <a:ln/>
        </p:spPr>
        <p:txBody>
          <a:bodyPr wrap="squar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MANOS AL HOGAR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1892815" y="3414713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5.3%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2968926" y="3550444"/>
            <a:ext cx="557213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79" name="Text 76"/>
          <p:cNvSpPr/>
          <p:nvPr/>
        </p:nvSpPr>
        <p:spPr>
          <a:xfrm>
            <a:off x="2968926" y="3550444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50" dirty="0"/>
          </a:p>
        </p:txBody>
      </p:sp>
      <p:sp>
        <p:nvSpPr>
          <p:cNvPr id="80" name="Text 77"/>
          <p:cNvSpPr/>
          <p:nvPr/>
        </p:nvSpPr>
        <p:spPr>
          <a:xfrm>
            <a:off x="3902162" y="3414713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16.7%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978273" y="3550444"/>
            <a:ext cx="557213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82" name="Text 79"/>
          <p:cNvSpPr/>
          <p:nvPr/>
        </p:nvSpPr>
        <p:spPr>
          <a:xfrm>
            <a:off x="4978273" y="3550444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50" dirty="0"/>
          </a:p>
        </p:txBody>
      </p:sp>
      <p:sp>
        <p:nvSpPr>
          <p:cNvPr id="83" name="Text 80"/>
          <p:cNvSpPr/>
          <p:nvPr/>
        </p:nvSpPr>
        <p:spPr>
          <a:xfrm>
            <a:off x="5911509" y="3414713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$66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6987620" y="3550444"/>
            <a:ext cx="557213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85" name="Text 82"/>
          <p:cNvSpPr/>
          <p:nvPr/>
        </p:nvSpPr>
        <p:spPr>
          <a:xfrm>
            <a:off x="6987620" y="3550444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50" dirty="0"/>
          </a:p>
        </p:txBody>
      </p:sp>
      <p:sp>
        <p:nvSpPr>
          <p:cNvPr id="86" name="Text 83"/>
          <p:cNvSpPr/>
          <p:nvPr/>
        </p:nvSpPr>
        <p:spPr>
          <a:xfrm>
            <a:off x="7920856" y="3414713"/>
            <a:ext cx="837381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113</a:t>
            </a:r>
            <a:endParaRPr lang="en-US" sz="1000" dirty="0"/>
          </a:p>
        </p:txBody>
      </p:sp>
      <p:sp>
        <p:nvSpPr>
          <p:cNvPr id="87" name="Text 84"/>
          <p:cNvSpPr/>
          <p:nvPr/>
        </p:nvSpPr>
        <p:spPr>
          <a:xfrm>
            <a:off x="385763" y="3829050"/>
            <a:ext cx="1507052" cy="414338"/>
          </a:xfrm>
          <a:prstGeom prst="rect">
            <a:avLst/>
          </a:prstGeom>
          <a:noFill/>
          <a:ln/>
        </p:spPr>
        <p:txBody>
          <a:bodyPr wrap="squar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DOS HOGARES</a:t>
            </a:r>
            <a:endParaRPr lang="en-US" sz="800" dirty="0"/>
          </a:p>
        </p:txBody>
      </p:sp>
      <p:sp>
        <p:nvSpPr>
          <p:cNvPr id="88" name="Text 85"/>
          <p:cNvSpPr/>
          <p:nvPr/>
        </p:nvSpPr>
        <p:spPr>
          <a:xfrm>
            <a:off x="1892815" y="3829050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0.0%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2968926" y="3964781"/>
            <a:ext cx="557213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90" name="Text 87"/>
          <p:cNvSpPr/>
          <p:nvPr/>
        </p:nvSpPr>
        <p:spPr>
          <a:xfrm>
            <a:off x="2968926" y="3964781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50" dirty="0"/>
          </a:p>
        </p:txBody>
      </p:sp>
      <p:sp>
        <p:nvSpPr>
          <p:cNvPr id="91" name="Text 88"/>
          <p:cNvSpPr/>
          <p:nvPr/>
        </p:nvSpPr>
        <p:spPr>
          <a:xfrm>
            <a:off x="3902162" y="3829050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0.0%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4978273" y="3964781"/>
            <a:ext cx="557213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93" name="Text 90"/>
          <p:cNvSpPr/>
          <p:nvPr/>
        </p:nvSpPr>
        <p:spPr>
          <a:xfrm>
            <a:off x="4978273" y="3964781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50" dirty="0"/>
          </a:p>
        </p:txBody>
      </p:sp>
      <p:sp>
        <p:nvSpPr>
          <p:cNvPr id="94" name="Text 91"/>
          <p:cNvSpPr/>
          <p:nvPr/>
        </p:nvSpPr>
        <p:spPr>
          <a:xfrm>
            <a:off x="5911509" y="3829050"/>
            <a:ext cx="1004674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$49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6987620" y="3964781"/>
            <a:ext cx="557213" cy="200025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96" name="Text 93"/>
          <p:cNvSpPr/>
          <p:nvPr/>
        </p:nvSpPr>
        <p:spPr>
          <a:xfrm>
            <a:off x="6987620" y="3964781"/>
            <a:ext cx="557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Verde</a:t>
            </a:r>
            <a:endParaRPr lang="en-US" sz="650" dirty="0"/>
          </a:p>
        </p:txBody>
      </p:sp>
      <p:sp>
        <p:nvSpPr>
          <p:cNvPr id="97" name="Text 94"/>
          <p:cNvSpPr/>
          <p:nvPr/>
        </p:nvSpPr>
        <p:spPr>
          <a:xfrm>
            <a:off x="7920856" y="3829050"/>
            <a:ext cx="837381" cy="41433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49</a:t>
            </a:r>
            <a:endParaRPr lang="en-US" sz="1000" dirty="0"/>
          </a:p>
        </p:txBody>
      </p:sp>
      <p:sp>
        <p:nvSpPr>
          <p:cNvPr id="98" name="Text 95"/>
          <p:cNvSpPr/>
          <p:nvPr/>
        </p:nvSpPr>
        <p:spPr>
          <a:xfrm>
            <a:off x="385763" y="4546997"/>
            <a:ext cx="2071688" cy="553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250" dirty="0">
                <a:solidFill>
                  <a:srgbClr val="C7433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Lectura ejecutiva</a:t>
            </a:r>
            <a:endParaRPr lang="en-US" sz="1250" dirty="0"/>
          </a:p>
        </p:txBody>
      </p:sp>
      <p:sp>
        <p:nvSpPr>
          <p:cNvPr id="99" name="Text 96"/>
          <p:cNvSpPr/>
          <p:nvPr/>
        </p:nvSpPr>
        <p:spPr>
          <a:xfrm>
            <a:off x="2614613" y="4546997"/>
            <a:ext cx="5857875" cy="553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8400"/>
              </a:lnSpc>
              <a:buNone/>
            </a:pPr>
            <a:r>
              <a:rPr lang="en-US" sz="11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oportunidad central está en subir la calidad de entrada: </a:t>
            </a:r>
            <a:r>
              <a:rPr lang="en-US" sz="1050" b="1" dirty="0">
                <a:solidFill>
                  <a:srgbClr val="C74332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solo HOGARES está verde en Leads → MQL</a:t>
            </a:r>
            <a:r>
              <a:rPr lang="en-US" sz="11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mientras MQL → SQL permanece rojo en todos los </a:t>
            </a:r>
            <a:r>
              <a:rPr lang="en-US" sz="11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clientes.</a:t>
            </a:r>
            <a:endParaRPr lang="en-US" sz="1100" dirty="0"/>
          </a:p>
        </p:txBody>
      </p:sp>
      <p:sp>
        <p:nvSpPr>
          <p:cNvPr id="100" name="Text 97"/>
          <p:cNvSpPr/>
          <p:nvPr/>
        </p:nvSpPr>
        <p:spPr>
          <a:xfrm>
            <a:off x="385763" y="5186251"/>
            <a:ext cx="83724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069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Reglas replicadas desde la web app: Leads→MQL verde 20%+, MQL→SQL verde 75%+, CPL verde ≤$50, amarillo $51–$59 y rojo $60+.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428625"/>
            <a:ext cx="66151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0695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SEMÁFORO POR CLIENTE · AGENDA Y CIERRE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85763" y="614363"/>
            <a:ext cx="6072188" cy="58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150" spc="-1" kern="0" dirty="0">
                <a:solidFill>
                  <a:srgbClr val="1C1B19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La conversión a contrato mejora cuando la cita llega calificada</a:t>
            </a:r>
            <a:endParaRPr lang="en-US" sz="2150" dirty="0"/>
          </a:p>
        </p:txBody>
      </p:sp>
      <p:sp>
        <p:nvSpPr>
          <p:cNvPr id="5" name="Shape 2"/>
          <p:cNvSpPr/>
          <p:nvPr/>
        </p:nvSpPr>
        <p:spPr>
          <a:xfrm>
            <a:off x="7186613" y="428625"/>
            <a:ext cx="1571625" cy="55721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6" name="Text 3"/>
          <p:cNvSpPr/>
          <p:nvPr/>
        </p:nvSpPr>
        <p:spPr>
          <a:xfrm>
            <a:off x="7409855" y="629180"/>
            <a:ext cx="387548" cy="156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01–10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797403" y="629180"/>
            <a:ext cx="737592" cy="156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mayo 2026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5763" y="1325835"/>
            <a:ext cx="2000250" cy="293323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9" name="Text 6"/>
          <p:cNvSpPr/>
          <p:nvPr/>
        </p:nvSpPr>
        <p:spPr>
          <a:xfrm>
            <a:off x="514350" y="1411560"/>
            <a:ext cx="17430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D9A44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LECTURA OPERATIVA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14350" y="1618729"/>
            <a:ext cx="1743075" cy="4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550" b="1" spc="-1" kern="0" dirty="0">
                <a:solidFill>
                  <a:srgbClr val="F6F2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Agenda fuerte, cierre selectivo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14350" y="2165059"/>
            <a:ext cx="1743075" cy="918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5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tramo SQL → Cita muestra buen desempeño en clientes con SQL registrado, pero el cierre final depende de seguimiento post-cita y calidad previa del lead.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14350" y="3262517"/>
            <a:ext cx="17430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spc="-1" kern="0" dirty="0">
                <a:solidFill>
                  <a:srgbClr val="71C99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93.8%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14350" y="3555411"/>
            <a:ext cx="17430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Conversión global SQL → Cita.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514350" y="3850091"/>
            <a:ext cx="17430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spc="-1" kern="0" dirty="0">
                <a:solidFill>
                  <a:srgbClr val="71C99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26.7%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14350" y="4142984"/>
            <a:ext cx="17430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Conversión global Cita → Contrato.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2557463" y="1325835"/>
            <a:ext cx="6200775" cy="2318147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17" name="Shape 14"/>
          <p:cNvSpPr/>
          <p:nvPr/>
        </p:nvSpPr>
        <p:spPr>
          <a:xfrm>
            <a:off x="2557463" y="1325835"/>
            <a:ext cx="992116" cy="25717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2557463" y="1325835"/>
            <a:ext cx="992116" cy="257175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CLIENTE</a:t>
            </a:r>
            <a:endParaRPr lang="en-US" sz="550" dirty="0"/>
          </a:p>
        </p:txBody>
      </p:sp>
      <p:sp>
        <p:nvSpPr>
          <p:cNvPr id="19" name="Shape 16"/>
          <p:cNvSpPr/>
          <p:nvPr/>
        </p:nvSpPr>
        <p:spPr>
          <a:xfrm>
            <a:off x="3549579" y="1325835"/>
            <a:ext cx="434039" cy="25717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0" name="Text 17"/>
          <p:cNvSpPr/>
          <p:nvPr/>
        </p:nvSpPr>
        <p:spPr>
          <a:xfrm>
            <a:off x="3549579" y="1325835"/>
            <a:ext cx="434039" cy="257175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SQL</a:t>
            </a:r>
            <a:endParaRPr lang="en-US" sz="550" dirty="0"/>
          </a:p>
        </p:txBody>
      </p:sp>
      <p:sp>
        <p:nvSpPr>
          <p:cNvPr id="21" name="Shape 18"/>
          <p:cNvSpPr/>
          <p:nvPr/>
        </p:nvSpPr>
        <p:spPr>
          <a:xfrm>
            <a:off x="3983617" y="1325835"/>
            <a:ext cx="434039" cy="25717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2" name="Text 19"/>
          <p:cNvSpPr/>
          <p:nvPr/>
        </p:nvSpPr>
        <p:spPr>
          <a:xfrm>
            <a:off x="3983617" y="1325835"/>
            <a:ext cx="434039" cy="257175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CITAS</a:t>
            </a:r>
            <a:endParaRPr lang="en-US" sz="550" dirty="0"/>
          </a:p>
        </p:txBody>
      </p:sp>
      <p:sp>
        <p:nvSpPr>
          <p:cNvPr id="23" name="Shape 20"/>
          <p:cNvSpPr/>
          <p:nvPr/>
        </p:nvSpPr>
        <p:spPr>
          <a:xfrm>
            <a:off x="4417656" y="1325835"/>
            <a:ext cx="434039" cy="25717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4" name="Text 21"/>
          <p:cNvSpPr/>
          <p:nvPr/>
        </p:nvSpPr>
        <p:spPr>
          <a:xfrm>
            <a:off x="4417656" y="1325835"/>
            <a:ext cx="434039" cy="257175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FIRMAS</a:t>
            </a:r>
            <a:endParaRPr lang="en-US" sz="550" dirty="0"/>
          </a:p>
        </p:txBody>
      </p:sp>
      <p:sp>
        <p:nvSpPr>
          <p:cNvPr id="25" name="Shape 22"/>
          <p:cNvSpPr/>
          <p:nvPr/>
        </p:nvSpPr>
        <p:spPr>
          <a:xfrm>
            <a:off x="4851695" y="1325835"/>
            <a:ext cx="682061" cy="25717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6" name="Text 23"/>
          <p:cNvSpPr/>
          <p:nvPr/>
        </p:nvSpPr>
        <p:spPr>
          <a:xfrm>
            <a:off x="4851695" y="1325835"/>
            <a:ext cx="682061" cy="257175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SQL → CITA</a:t>
            </a:r>
            <a:endParaRPr lang="en-US" sz="550" dirty="0"/>
          </a:p>
        </p:txBody>
      </p:sp>
      <p:sp>
        <p:nvSpPr>
          <p:cNvPr id="27" name="Shape 24"/>
          <p:cNvSpPr/>
          <p:nvPr/>
        </p:nvSpPr>
        <p:spPr>
          <a:xfrm>
            <a:off x="5533755" y="1325835"/>
            <a:ext cx="620055" cy="25717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8" name="Text 25"/>
          <p:cNvSpPr/>
          <p:nvPr/>
        </p:nvSpPr>
        <p:spPr>
          <a:xfrm>
            <a:off x="5533755" y="1325835"/>
            <a:ext cx="620055" cy="257175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COLOR</a:t>
            </a:r>
            <a:endParaRPr lang="en-US" sz="550" dirty="0"/>
          </a:p>
        </p:txBody>
      </p:sp>
      <p:sp>
        <p:nvSpPr>
          <p:cNvPr id="29" name="Shape 26"/>
          <p:cNvSpPr/>
          <p:nvPr/>
        </p:nvSpPr>
        <p:spPr>
          <a:xfrm>
            <a:off x="6153810" y="1325835"/>
            <a:ext cx="806100" cy="25717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6153810" y="1325835"/>
            <a:ext cx="806100" cy="257175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CITA → CONTRATO</a:t>
            </a:r>
            <a:endParaRPr lang="en-US" sz="550" dirty="0"/>
          </a:p>
        </p:txBody>
      </p:sp>
      <p:sp>
        <p:nvSpPr>
          <p:cNvPr id="31" name="Shape 28"/>
          <p:cNvSpPr/>
          <p:nvPr/>
        </p:nvSpPr>
        <p:spPr>
          <a:xfrm>
            <a:off x="6959910" y="1325835"/>
            <a:ext cx="620055" cy="25717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32" name="Text 29"/>
          <p:cNvSpPr/>
          <p:nvPr/>
        </p:nvSpPr>
        <p:spPr>
          <a:xfrm>
            <a:off x="6959910" y="1325835"/>
            <a:ext cx="620055" cy="257175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COLOR</a:t>
            </a:r>
            <a:endParaRPr lang="en-US" sz="550" dirty="0"/>
          </a:p>
        </p:txBody>
      </p:sp>
      <p:sp>
        <p:nvSpPr>
          <p:cNvPr id="33" name="Shape 30"/>
          <p:cNvSpPr/>
          <p:nvPr/>
        </p:nvSpPr>
        <p:spPr>
          <a:xfrm>
            <a:off x="7579965" y="1325835"/>
            <a:ext cx="1178272" cy="25717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34" name="Text 31"/>
          <p:cNvSpPr/>
          <p:nvPr/>
        </p:nvSpPr>
        <p:spPr>
          <a:xfrm>
            <a:off x="7579965" y="1325835"/>
            <a:ext cx="1178272" cy="257175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LECTURA</a:t>
            </a:r>
            <a:endParaRPr lang="en-US" sz="550" dirty="0"/>
          </a:p>
        </p:txBody>
      </p:sp>
      <p:sp>
        <p:nvSpPr>
          <p:cNvPr id="35" name="Text 32"/>
          <p:cNvSpPr/>
          <p:nvPr/>
        </p:nvSpPr>
        <p:spPr>
          <a:xfrm>
            <a:off x="2557463" y="1583010"/>
            <a:ext cx="992116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INQ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3549579" y="15830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983617" y="15830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417656" y="15830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851695" y="1583010"/>
            <a:ext cx="682061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150.0%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590905" y="1677665"/>
            <a:ext cx="528638" cy="192881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41" name="Text 38"/>
          <p:cNvSpPr/>
          <p:nvPr/>
        </p:nvSpPr>
        <p:spPr>
          <a:xfrm>
            <a:off x="5590905" y="1677665"/>
            <a:ext cx="5286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Verde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6153810" y="1583010"/>
            <a:ext cx="806100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66.7%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017060" y="1677665"/>
            <a:ext cx="528638" cy="192881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44" name="Text 41"/>
          <p:cNvSpPr/>
          <p:nvPr/>
        </p:nvSpPr>
        <p:spPr>
          <a:xfrm>
            <a:off x="7017060" y="1677665"/>
            <a:ext cx="5286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Verde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7579965" y="1583010"/>
            <a:ext cx="1178272" cy="342900"/>
          </a:xfrm>
          <a:prstGeom prst="rect">
            <a:avLst/>
          </a:prstGeom>
          <a:noFill/>
          <a:ln/>
        </p:spPr>
        <p:txBody>
          <a:bodyPr wrap="square" lIns="68072" tIns="51054" rIns="59563" bIns="0" rtlCol="0" anchor="ctr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Convierte citas a firmas con fuerza.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2557463" y="1925910"/>
            <a:ext cx="992116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GRUPO ELIJO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3549579" y="19259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3983617" y="19259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417656" y="19259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851695" y="1925910"/>
            <a:ext cx="682061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150.0%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5590905" y="2022351"/>
            <a:ext cx="528638" cy="192881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52" name="Text 49"/>
          <p:cNvSpPr/>
          <p:nvPr/>
        </p:nvSpPr>
        <p:spPr>
          <a:xfrm>
            <a:off x="5590905" y="2022351"/>
            <a:ext cx="5286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Verde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6153810" y="1925910"/>
            <a:ext cx="806100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0.0%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7017060" y="2022351"/>
            <a:ext cx="528638" cy="192881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55" name="Text 52"/>
          <p:cNvSpPr/>
          <p:nvPr/>
        </p:nvSpPr>
        <p:spPr>
          <a:xfrm>
            <a:off x="7017060" y="2022351"/>
            <a:ext cx="5286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7579965" y="1925910"/>
            <a:ext cx="1178272" cy="342900"/>
          </a:xfrm>
          <a:prstGeom prst="rect">
            <a:avLst/>
          </a:prstGeom>
          <a:noFill/>
          <a:ln/>
        </p:spPr>
        <p:txBody>
          <a:bodyPr wrap="square" lIns="68072" tIns="51054" rIns="59563" bIns="0" rtlCol="0" anchor="ctr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Citas sin firma; urge seguimiento post-cita.</a:t>
            </a:r>
            <a:endParaRPr lang="en-US" sz="650" dirty="0"/>
          </a:p>
        </p:txBody>
      </p:sp>
      <p:sp>
        <p:nvSpPr>
          <p:cNvPr id="57" name="Text 54"/>
          <p:cNvSpPr/>
          <p:nvPr/>
        </p:nvSpPr>
        <p:spPr>
          <a:xfrm>
            <a:off x="2557463" y="2268810"/>
            <a:ext cx="992116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MANOS AL HOGAR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3549579" y="22688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3983617" y="22688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4417656" y="22688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4851695" y="2268810"/>
            <a:ext cx="682061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100.0%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5590905" y="2365251"/>
            <a:ext cx="528638" cy="192881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63" name="Text 60"/>
          <p:cNvSpPr/>
          <p:nvPr/>
        </p:nvSpPr>
        <p:spPr>
          <a:xfrm>
            <a:off x="5590905" y="2365251"/>
            <a:ext cx="5286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Verde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6153810" y="2268810"/>
            <a:ext cx="806100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100.0%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7017060" y="2365251"/>
            <a:ext cx="528638" cy="192881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66" name="Text 63"/>
          <p:cNvSpPr/>
          <p:nvPr/>
        </p:nvSpPr>
        <p:spPr>
          <a:xfrm>
            <a:off x="7017060" y="2365251"/>
            <a:ext cx="5286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Verde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7579965" y="2268810"/>
            <a:ext cx="1178272" cy="342900"/>
          </a:xfrm>
          <a:prstGeom prst="rect">
            <a:avLst/>
          </a:prstGeom>
          <a:noFill/>
          <a:ln/>
        </p:spPr>
        <p:txBody>
          <a:bodyPr wrap="square" lIns="68072" tIns="51054" rIns="59563" bIns="0" rtlCol="0" anchor="ctr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Pocas citas, pero cierre efectivo.</a:t>
            </a:r>
            <a:endParaRPr lang="en-US" sz="650" dirty="0"/>
          </a:p>
        </p:txBody>
      </p:sp>
      <p:sp>
        <p:nvSpPr>
          <p:cNvPr id="68" name="Text 65"/>
          <p:cNvSpPr/>
          <p:nvPr/>
        </p:nvSpPr>
        <p:spPr>
          <a:xfrm>
            <a:off x="2557463" y="2611710"/>
            <a:ext cx="992116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HOGARES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49579" y="26117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11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983617" y="26117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4417656" y="26117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4851695" y="2611710"/>
            <a:ext cx="682061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45.5%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5590905" y="2708151"/>
            <a:ext cx="528638" cy="192881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74" name="Text 71"/>
          <p:cNvSpPr/>
          <p:nvPr/>
        </p:nvSpPr>
        <p:spPr>
          <a:xfrm>
            <a:off x="5590905" y="2708151"/>
            <a:ext cx="5286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Amarillo</a:t>
            </a:r>
            <a:endParaRPr lang="en-US" sz="600" dirty="0"/>
          </a:p>
        </p:txBody>
      </p:sp>
      <p:sp>
        <p:nvSpPr>
          <p:cNvPr id="75" name="Text 72"/>
          <p:cNvSpPr/>
          <p:nvPr/>
        </p:nvSpPr>
        <p:spPr>
          <a:xfrm>
            <a:off x="6153810" y="2611710"/>
            <a:ext cx="806100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20.0%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7017060" y="2708151"/>
            <a:ext cx="528638" cy="192881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77" name="Text 74"/>
          <p:cNvSpPr/>
          <p:nvPr/>
        </p:nvSpPr>
        <p:spPr>
          <a:xfrm>
            <a:off x="7017060" y="2708151"/>
            <a:ext cx="5286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Verde</a:t>
            </a:r>
            <a:endParaRPr lang="en-US" sz="600" dirty="0"/>
          </a:p>
        </p:txBody>
      </p:sp>
      <p:sp>
        <p:nvSpPr>
          <p:cNvPr id="78" name="Text 75"/>
          <p:cNvSpPr/>
          <p:nvPr/>
        </p:nvSpPr>
        <p:spPr>
          <a:xfrm>
            <a:off x="7579965" y="2611710"/>
            <a:ext cx="1178272" cy="342900"/>
          </a:xfrm>
          <a:prstGeom prst="rect">
            <a:avLst/>
          </a:prstGeom>
          <a:noFill/>
          <a:ln/>
        </p:spPr>
        <p:txBody>
          <a:bodyPr wrap="square" lIns="68072" tIns="51054" rIns="59563" bIns="0" rtlCol="0" anchor="ctr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Buen cierre; agenda puede mejorar.</a:t>
            </a:r>
            <a:endParaRPr lang="en-US" sz="650" dirty="0"/>
          </a:p>
        </p:txBody>
      </p:sp>
      <p:sp>
        <p:nvSpPr>
          <p:cNvPr id="79" name="Text 76"/>
          <p:cNvSpPr/>
          <p:nvPr/>
        </p:nvSpPr>
        <p:spPr>
          <a:xfrm>
            <a:off x="2557463" y="2954610"/>
            <a:ext cx="992116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DOS HOGARES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3549579" y="29546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3983617" y="29546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4417656" y="29546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4851695" y="2954610"/>
            <a:ext cx="682061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0.0%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590905" y="3051051"/>
            <a:ext cx="528638" cy="192881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85" name="Text 82"/>
          <p:cNvSpPr/>
          <p:nvPr/>
        </p:nvSpPr>
        <p:spPr>
          <a:xfrm>
            <a:off x="5590905" y="3051051"/>
            <a:ext cx="5286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00" dirty="0"/>
          </a:p>
        </p:txBody>
      </p:sp>
      <p:sp>
        <p:nvSpPr>
          <p:cNvPr id="86" name="Text 83"/>
          <p:cNvSpPr/>
          <p:nvPr/>
        </p:nvSpPr>
        <p:spPr>
          <a:xfrm>
            <a:off x="6153810" y="2954610"/>
            <a:ext cx="806100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0.0%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7017060" y="3051051"/>
            <a:ext cx="528638" cy="192881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88" name="Text 85"/>
          <p:cNvSpPr/>
          <p:nvPr/>
        </p:nvSpPr>
        <p:spPr>
          <a:xfrm>
            <a:off x="7017060" y="3051051"/>
            <a:ext cx="5286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00" dirty="0"/>
          </a:p>
        </p:txBody>
      </p:sp>
      <p:sp>
        <p:nvSpPr>
          <p:cNvPr id="89" name="Text 86"/>
          <p:cNvSpPr/>
          <p:nvPr/>
        </p:nvSpPr>
        <p:spPr>
          <a:xfrm>
            <a:off x="7579965" y="2954610"/>
            <a:ext cx="1178272" cy="342900"/>
          </a:xfrm>
          <a:prstGeom prst="rect">
            <a:avLst/>
          </a:prstGeom>
          <a:noFill/>
          <a:ln/>
        </p:spPr>
        <p:txBody>
          <a:bodyPr wrap="square" lIns="68072" tIns="51054" rIns="59563" bIns="0" rtlCol="0" anchor="ctr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Cita aislada sin soporte de MQL/SQL.</a:t>
            </a:r>
            <a:endParaRPr lang="en-US" sz="650" dirty="0"/>
          </a:p>
        </p:txBody>
      </p:sp>
      <p:sp>
        <p:nvSpPr>
          <p:cNvPr id="90" name="Text 87"/>
          <p:cNvSpPr/>
          <p:nvPr/>
        </p:nvSpPr>
        <p:spPr>
          <a:xfrm>
            <a:off x="2557463" y="3297510"/>
            <a:ext cx="992116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INSPIRA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3549579" y="32975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900" dirty="0"/>
          </a:p>
        </p:txBody>
      </p:sp>
      <p:sp>
        <p:nvSpPr>
          <p:cNvPr id="92" name="Text 89"/>
          <p:cNvSpPr/>
          <p:nvPr/>
        </p:nvSpPr>
        <p:spPr>
          <a:xfrm>
            <a:off x="3983617" y="32975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900" dirty="0"/>
          </a:p>
        </p:txBody>
      </p:sp>
      <p:sp>
        <p:nvSpPr>
          <p:cNvPr id="93" name="Text 90"/>
          <p:cNvSpPr/>
          <p:nvPr/>
        </p:nvSpPr>
        <p:spPr>
          <a:xfrm>
            <a:off x="4417656" y="3297510"/>
            <a:ext cx="434039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4851695" y="3297510"/>
            <a:ext cx="682061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0.0%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5590905" y="3393951"/>
            <a:ext cx="528638" cy="192881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96" name="Text 93"/>
          <p:cNvSpPr/>
          <p:nvPr/>
        </p:nvSpPr>
        <p:spPr>
          <a:xfrm>
            <a:off x="5590905" y="3393951"/>
            <a:ext cx="5286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00" dirty="0"/>
          </a:p>
        </p:txBody>
      </p:sp>
      <p:sp>
        <p:nvSpPr>
          <p:cNvPr id="97" name="Text 94"/>
          <p:cNvSpPr/>
          <p:nvPr/>
        </p:nvSpPr>
        <p:spPr>
          <a:xfrm>
            <a:off x="6153810" y="3297510"/>
            <a:ext cx="806100" cy="342900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0.0%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7017060" y="3393951"/>
            <a:ext cx="528638" cy="192881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99" name="Text 96"/>
          <p:cNvSpPr/>
          <p:nvPr/>
        </p:nvSpPr>
        <p:spPr>
          <a:xfrm>
            <a:off x="7017060" y="3393951"/>
            <a:ext cx="5286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Rojo</a:t>
            </a:r>
            <a:endParaRPr lang="en-US" sz="600" dirty="0"/>
          </a:p>
        </p:txBody>
      </p:sp>
      <p:sp>
        <p:nvSpPr>
          <p:cNvPr id="100" name="Text 97"/>
          <p:cNvSpPr/>
          <p:nvPr/>
        </p:nvSpPr>
        <p:spPr>
          <a:xfrm>
            <a:off x="7579965" y="3297510"/>
            <a:ext cx="1178272" cy="342900"/>
          </a:xfrm>
          <a:prstGeom prst="rect">
            <a:avLst/>
          </a:prstGeom>
          <a:noFill/>
          <a:ln/>
        </p:spPr>
        <p:txBody>
          <a:bodyPr wrap="square" lIns="68072" tIns="51054" rIns="59563" bIns="0" rtlCol="0" anchor="ctr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MQL sin SQL; revisar avance antes de agenda.</a:t>
            </a:r>
            <a:endParaRPr lang="en-US" sz="650" dirty="0"/>
          </a:p>
        </p:txBody>
      </p:sp>
      <p:sp>
        <p:nvSpPr>
          <p:cNvPr id="101" name="Text 98"/>
          <p:cNvSpPr/>
          <p:nvPr/>
        </p:nvSpPr>
        <p:spPr>
          <a:xfrm>
            <a:off x="385763" y="4459095"/>
            <a:ext cx="4121944" cy="337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oportunidad no está solo en generar citas: está en sostener </a:t>
            </a:r>
            <a:r>
              <a:rPr lang="en-US" sz="1000" b="1" dirty="0">
                <a:solidFill>
                  <a:srgbClr val="1F8A4C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calidad antes de agenda</a:t>
            </a:r>
            <a:r>
              <a:rPr lang="en-US" sz="10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 seguimiento después de la visita.</a:t>
            </a:r>
            <a:endParaRPr lang="en-US" sz="1050" dirty="0"/>
          </a:p>
        </p:txBody>
      </p:sp>
      <p:sp>
        <p:nvSpPr>
          <p:cNvPr id="102" name="Text 99"/>
          <p:cNvSpPr/>
          <p:nvPr/>
        </p:nvSpPr>
        <p:spPr>
          <a:xfrm>
            <a:off x="4636294" y="4459095"/>
            <a:ext cx="4121944" cy="337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7069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Reglas: SQL→Cita verde 52%+, amarillo 43–51%, rojo 0–42%. Cita→Contrato verde 12.5%+, amarillo 10.1–12.4%, rojo 0–10%.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457200"/>
            <a:ext cx="66151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0695F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INTERVENCIÓN INMEDIATA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85763" y="642938"/>
            <a:ext cx="6072188" cy="291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150" spc="-1" kern="0" dirty="0">
                <a:solidFill>
                  <a:srgbClr val="1C1B19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Clientes que requieren intervención inmediata</a:t>
            </a:r>
            <a:endParaRPr lang="en-US" sz="2150" dirty="0"/>
          </a:p>
        </p:txBody>
      </p:sp>
      <p:sp>
        <p:nvSpPr>
          <p:cNvPr id="5" name="Shape 2"/>
          <p:cNvSpPr/>
          <p:nvPr/>
        </p:nvSpPr>
        <p:spPr>
          <a:xfrm>
            <a:off x="7186613" y="457200"/>
            <a:ext cx="1571625" cy="55721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6" name="Text 3"/>
          <p:cNvSpPr/>
          <p:nvPr/>
        </p:nvSpPr>
        <p:spPr>
          <a:xfrm>
            <a:off x="7324130" y="657755"/>
            <a:ext cx="378619" cy="156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6F2EA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Corte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702748" y="657755"/>
            <a:ext cx="917972" cy="1560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6F2EA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10 mayo 2026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5763" y="1185863"/>
            <a:ext cx="8372475" cy="614363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9" name="Text 6"/>
          <p:cNvSpPr/>
          <p:nvPr/>
        </p:nvSpPr>
        <p:spPr>
          <a:xfrm>
            <a:off x="385763" y="1185863"/>
            <a:ext cx="2000250" cy="614363"/>
          </a:xfrm>
          <a:prstGeom prst="rect">
            <a:avLst/>
          </a:prstGeom>
          <a:noFill/>
          <a:ln/>
        </p:spPr>
        <p:txBody>
          <a:bodyPr wrap="square" lIns="187071" tIns="170053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spc="-1" kern="0" dirty="0">
                <a:solidFill>
                  <a:srgbClr val="F6F2EA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4 frentes críticos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557463" y="1185863"/>
            <a:ext cx="6200775" cy="614363"/>
          </a:xfrm>
          <a:prstGeom prst="rect">
            <a:avLst/>
          </a:prstGeom>
          <a:noFill/>
          <a:ln/>
        </p:spPr>
        <p:txBody>
          <a:bodyPr wrap="square" lIns="0" tIns="153035" rIns="204089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100" dirty="0">
                <a:solidFill>
                  <a:srgbClr val="FFF6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pérdida de eficiencia se concentra en costo por cita alto, costo por lead rojo, ausencia de MQL o citas sin firma.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5763" y="1957388"/>
            <a:ext cx="8372475" cy="2475309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12" name="Shape 9"/>
          <p:cNvSpPr/>
          <p:nvPr/>
        </p:nvSpPr>
        <p:spPr>
          <a:xfrm>
            <a:off x="385763" y="1957388"/>
            <a:ext cx="1507024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3" name="Text 10"/>
          <p:cNvSpPr/>
          <p:nvPr/>
        </p:nvSpPr>
        <p:spPr>
          <a:xfrm>
            <a:off x="385763" y="1957388"/>
            <a:ext cx="1507024" cy="300038"/>
          </a:xfrm>
          <a:prstGeom prst="rect">
            <a:avLst/>
          </a:prstGeom>
          <a:noFill/>
          <a:ln/>
        </p:spPr>
        <p:txBody>
          <a:bodyPr wrap="square" lIns="102108" tIns="76581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CLIENTE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1892787" y="1957388"/>
            <a:ext cx="2344266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1892787" y="1957388"/>
            <a:ext cx="2344266" cy="300038"/>
          </a:xfrm>
          <a:prstGeom prst="rect">
            <a:avLst/>
          </a:prstGeom>
          <a:noFill/>
          <a:ln/>
        </p:spPr>
        <p:txBody>
          <a:bodyPr wrap="square" lIns="102108" tIns="76581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SEÑAL CRÍTICA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4237053" y="1957388"/>
            <a:ext cx="2846645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4237053" y="1957388"/>
            <a:ext cx="2846645" cy="300038"/>
          </a:xfrm>
          <a:prstGeom prst="rect">
            <a:avLst/>
          </a:prstGeom>
          <a:noFill/>
          <a:ln/>
        </p:spPr>
        <p:txBody>
          <a:bodyPr wrap="square" lIns="102108" tIns="76581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ACCIÓN SUGERIDA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7083698" y="1957388"/>
            <a:ext cx="1674540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7083698" y="1957388"/>
            <a:ext cx="1674540" cy="300038"/>
          </a:xfrm>
          <a:prstGeom prst="rect">
            <a:avLst/>
          </a:prstGeom>
          <a:noFill/>
          <a:ln/>
        </p:spPr>
        <p:txBody>
          <a:bodyPr wrap="square" lIns="102108" tIns="76581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MÉTRICA GUÍA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471488" y="2328863"/>
            <a:ext cx="1349862" cy="1742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MANOS AL HOGAR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1488" y="2553165"/>
            <a:ext cx="585788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22" name="Text 19"/>
          <p:cNvSpPr/>
          <p:nvPr/>
        </p:nvSpPr>
        <p:spPr>
          <a:xfrm>
            <a:off x="471488" y="2553165"/>
            <a:ext cx="585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50" b="1" dirty="0">
                <a:solidFill>
                  <a:srgbClr val="F6F2EA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Rojo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1978512" y="2323505"/>
            <a:ext cx="1235869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b="1" dirty="0">
                <a:solidFill>
                  <a:srgbClr val="C74332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Costo por cita de $7,417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978512" y="2323505"/>
            <a:ext cx="2073473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 costo por lead rojo de $66.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322778" y="2323505"/>
            <a:ext cx="2614613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1C1B19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Auditar campañas, segmentación y criterio de cita antes de subir presupuesto.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169423" y="2343150"/>
            <a:ext cx="1517377" cy="183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 cita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169423" y="2520795"/>
            <a:ext cx="1025128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$7,417 invertidos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71488" y="2875359"/>
            <a:ext cx="1349862" cy="1742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INSPIRA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1488" y="3099662"/>
            <a:ext cx="585788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30" name="Text 27"/>
          <p:cNvSpPr/>
          <p:nvPr/>
        </p:nvSpPr>
        <p:spPr>
          <a:xfrm>
            <a:off x="471488" y="3099662"/>
            <a:ext cx="585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50" b="1" dirty="0">
                <a:solidFill>
                  <a:srgbClr val="F6F2EA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Rojo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978512" y="2870002"/>
            <a:ext cx="591145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b="1" dirty="0">
                <a:solidFill>
                  <a:srgbClr val="C74332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CPL de $94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978512" y="2870002"/>
            <a:ext cx="2082403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 cero SQL sobre cuatro MQL acumulados.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322778" y="2870002"/>
            <a:ext cx="2637830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1C1B19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Revisar definición de MQL, velocidad de contacto y avance comercial.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7169423" y="2889647"/>
            <a:ext cx="1517377" cy="183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 SQL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169423" y="3067292"/>
            <a:ext cx="634008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sobre 4 MQL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71488" y="3418284"/>
            <a:ext cx="1349862" cy="1742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DOS HOGARES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71488" y="3642587"/>
            <a:ext cx="585788" cy="200025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38" name="Text 35"/>
          <p:cNvSpPr/>
          <p:nvPr/>
        </p:nvSpPr>
        <p:spPr>
          <a:xfrm>
            <a:off x="471488" y="3642587"/>
            <a:ext cx="585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50" b="1" dirty="0">
                <a:solidFill>
                  <a:srgbClr val="F6F2EA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Rojo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978512" y="3412927"/>
            <a:ext cx="1446609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b="1" dirty="0">
                <a:solidFill>
                  <a:srgbClr val="C74332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49 conversaciones y 0 MQL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1978512" y="3412927"/>
            <a:ext cx="1977033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aunque el costo por lead está verde.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322778" y="3412927"/>
            <a:ext cx="2389584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1C1B19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Revisar calidad de conversación, formularios y clasificación del equipo.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169423" y="3432572"/>
            <a:ext cx="1517377" cy="183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0.0%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7169423" y="3610217"/>
            <a:ext cx="68937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Leads → MQL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71488" y="3961209"/>
            <a:ext cx="1349862" cy="1742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GRUPO ELIJO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71488" y="4185512"/>
            <a:ext cx="585788" cy="20002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6" name="Text 43"/>
          <p:cNvSpPr/>
          <p:nvPr/>
        </p:nvSpPr>
        <p:spPr>
          <a:xfrm>
            <a:off x="471488" y="4185512"/>
            <a:ext cx="585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50" b="1" dirty="0">
                <a:solidFill>
                  <a:srgbClr val="1C1B19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Atención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1978512" y="3955852"/>
            <a:ext cx="104120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b="1" dirty="0">
                <a:solidFill>
                  <a:srgbClr val="C74332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Tres citas sin firmas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78512" y="3955852"/>
            <a:ext cx="1835944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la eficiencia de agenda aún no llega a cierre.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322778" y="3955852"/>
            <a:ext cx="2430661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1C1B19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Implementar seguimiento post-cita, control de objeciones y recuperación de cierres.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7169423" y="3975497"/>
            <a:ext cx="1517377" cy="183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 firmas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7169423" y="4153142"/>
            <a:ext cx="644723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sobre 3 citas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385763" y="4718447"/>
            <a:ext cx="2571750" cy="348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Criterio de acción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3128963" y="4718447"/>
            <a:ext cx="5629275" cy="348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Atender primero los clientes donde el semáforo combina </a:t>
            </a:r>
            <a:r>
              <a:rPr lang="en-US" sz="1000" b="1" dirty="0">
                <a:solidFill>
                  <a:srgbClr val="C74332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costo elevado</a:t>
            </a:r>
            <a:r>
              <a:rPr lang="en-US" sz="10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 </a:t>
            </a:r>
            <a:r>
              <a:rPr lang="en-US" sz="1000" b="1" dirty="0">
                <a:solidFill>
                  <a:srgbClr val="C74332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bloqueo de conversión</a:t>
            </a:r>
            <a:r>
              <a:rPr lang="en-US" sz="10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después escalar inversión solo donde el proceso ya convierta.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457200"/>
            <a:ext cx="65436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0695F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ESCALAMIENTO CONTROLADO POR CLIENTE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85763" y="642938"/>
            <a:ext cx="5857875" cy="291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150" spc="-1" kern="0" dirty="0">
                <a:solidFill>
                  <a:srgbClr val="1C1B19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Clientes con señales positivas para escalar</a:t>
            </a:r>
            <a:endParaRPr lang="en-US" sz="2150" dirty="0"/>
          </a:p>
        </p:txBody>
      </p:sp>
      <p:sp>
        <p:nvSpPr>
          <p:cNvPr id="5" name="Shape 2"/>
          <p:cNvSpPr/>
          <p:nvPr/>
        </p:nvSpPr>
        <p:spPr>
          <a:xfrm>
            <a:off x="7115175" y="457200"/>
            <a:ext cx="1643063" cy="55721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6" name="Text 3"/>
          <p:cNvSpPr/>
          <p:nvPr/>
        </p:nvSpPr>
        <p:spPr>
          <a:xfrm>
            <a:off x="7373243" y="659792"/>
            <a:ext cx="387548" cy="152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9600"/>
              </a:lnSpc>
              <a:buNone/>
            </a:pPr>
            <a:r>
              <a:rPr lang="en-US" sz="950" b="1" dirty="0">
                <a:solidFill>
                  <a:srgbClr val="F6F2EA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01–10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760791" y="659792"/>
            <a:ext cx="739378" cy="152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9600"/>
              </a:lnSpc>
              <a:buNone/>
            </a:pPr>
            <a:r>
              <a:rPr lang="en-US" sz="950" b="1" dirty="0">
                <a:solidFill>
                  <a:srgbClr val="F6F2EA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mayo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85763" y="1314450"/>
            <a:ext cx="1785938" cy="55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300" dirty="0">
                <a:solidFill>
                  <a:srgbClr val="1F8A4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Tesis de inversión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343150" y="1314450"/>
            <a:ext cx="6072188" cy="55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11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presupuesto adicional debe asignarse a clientes con señales operativas </a:t>
            </a:r>
            <a:r>
              <a:rPr lang="en-US" sz="11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comprobables, pero siempre condicionado a corregir el siguiente bloqueo del embudo. </a:t>
            </a:r>
            <a:r>
              <a:rPr lang="en-US" sz="1050" b="1" dirty="0">
                <a:solidFill>
                  <a:srgbClr val="1F8A4C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Escalar sin control puede elevar el costo por cita.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5763" y="2043950"/>
            <a:ext cx="8372475" cy="2189559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11" name="Shape 8"/>
          <p:cNvSpPr/>
          <p:nvPr/>
        </p:nvSpPr>
        <p:spPr>
          <a:xfrm>
            <a:off x="385763" y="2043950"/>
            <a:ext cx="1339593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2" name="Text 9"/>
          <p:cNvSpPr/>
          <p:nvPr/>
        </p:nvSpPr>
        <p:spPr>
          <a:xfrm>
            <a:off x="385763" y="2043950"/>
            <a:ext cx="1339593" cy="300038"/>
          </a:xfrm>
          <a:prstGeom prst="rect">
            <a:avLst/>
          </a:prstGeom>
          <a:noFill/>
          <a:ln/>
        </p:spPr>
        <p:txBody>
          <a:bodyPr wrap="square" lIns="102108" tIns="76581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CLIENTE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1725355" y="2043950"/>
            <a:ext cx="2344266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4" name="Text 11"/>
          <p:cNvSpPr/>
          <p:nvPr/>
        </p:nvSpPr>
        <p:spPr>
          <a:xfrm>
            <a:off x="1725355" y="2043950"/>
            <a:ext cx="2344266" cy="300038"/>
          </a:xfrm>
          <a:prstGeom prst="rect">
            <a:avLst/>
          </a:prstGeom>
          <a:noFill/>
          <a:ln/>
        </p:spPr>
        <p:txBody>
          <a:bodyPr wrap="square" lIns="102108" tIns="76581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SEÑAL POSITIVA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4069621" y="2043950"/>
            <a:ext cx="2344266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6" name="Text 13"/>
          <p:cNvSpPr/>
          <p:nvPr/>
        </p:nvSpPr>
        <p:spPr>
          <a:xfrm>
            <a:off x="4069621" y="2043950"/>
            <a:ext cx="2344266" cy="300038"/>
          </a:xfrm>
          <a:prstGeom prst="rect">
            <a:avLst/>
          </a:prstGeom>
          <a:noFill/>
          <a:ln/>
        </p:spPr>
        <p:txBody>
          <a:bodyPr wrap="square" lIns="102108" tIns="76581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CONDICIÓN ANTES DE ESCALAR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6413888" y="2043950"/>
            <a:ext cx="1172133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6413888" y="2043950"/>
            <a:ext cx="1172133" cy="300038"/>
          </a:xfrm>
          <a:prstGeom prst="rect">
            <a:avLst/>
          </a:prstGeom>
          <a:noFill/>
          <a:ln/>
        </p:spPr>
        <p:txBody>
          <a:bodyPr wrap="none" lIns="102108" tIns="76581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MÉTRICA CLAVE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7586021" y="2043950"/>
            <a:ext cx="1172217" cy="3000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0" name="Text 17"/>
          <p:cNvSpPr/>
          <p:nvPr/>
        </p:nvSpPr>
        <p:spPr>
          <a:xfrm>
            <a:off x="7586021" y="2043950"/>
            <a:ext cx="1172217" cy="300038"/>
          </a:xfrm>
          <a:prstGeom prst="rect">
            <a:avLst/>
          </a:prstGeom>
          <a:noFill/>
          <a:ln/>
        </p:spPr>
        <p:txBody>
          <a:bodyPr wrap="none" lIns="102108" tIns="76581" rIns="85090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SEMÁFORO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471488" y="2422568"/>
            <a:ext cx="1182430" cy="183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HOGARES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811080" y="2417211"/>
            <a:ext cx="2064544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b="1" dirty="0">
                <a:solidFill>
                  <a:srgbClr val="1F8A4C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 citas, $875 por cita y Leads → MQL en verde.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155346" y="2424354"/>
            <a:ext cx="2135981" cy="26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Mejorar SQL → Cita para no desperdiciar MQL de alta calidad.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499613" y="2436856"/>
            <a:ext cx="10149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$875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99613" y="2651168"/>
            <a:ext cx="1014971" cy="104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b="1" spc="1" kern="0" dirty="0">
                <a:solidFill>
                  <a:srgbClr val="70695F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COSTO/CITA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7671746" y="2451143"/>
            <a:ext cx="628650" cy="200025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27" name="Text 24"/>
          <p:cNvSpPr/>
          <p:nvPr/>
        </p:nvSpPr>
        <p:spPr>
          <a:xfrm>
            <a:off x="7671746" y="2451143"/>
            <a:ext cx="628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Escalar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471488" y="3054790"/>
            <a:ext cx="1182430" cy="183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GRUPO ELIJO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811080" y="3049432"/>
            <a:ext cx="2180630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b="1" dirty="0">
                <a:solidFill>
                  <a:srgbClr val="1F8A4C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$997 por cita con 3 citas generadas y CPL verde.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155346" y="3056576"/>
            <a:ext cx="1928813" cy="26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Resolver cierre a firma antes de aumentar presupuesto.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499613" y="3069078"/>
            <a:ext cx="10149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$997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99613" y="3283390"/>
            <a:ext cx="1014971" cy="104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b="1" spc="1" kern="0" dirty="0">
                <a:solidFill>
                  <a:srgbClr val="70695F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COSTO/CITA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7671746" y="3083365"/>
            <a:ext cx="628650" cy="20002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4" name="Text 31"/>
          <p:cNvSpPr/>
          <p:nvPr/>
        </p:nvSpPr>
        <p:spPr>
          <a:xfrm>
            <a:off x="7671746" y="3083365"/>
            <a:ext cx="628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50" b="1" dirty="0">
                <a:solidFill>
                  <a:srgbClr val="1C1B19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Condicional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471488" y="3683440"/>
            <a:ext cx="1182430" cy="183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INQ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811080" y="3678082"/>
            <a:ext cx="2080617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b="1" dirty="0">
                <a:solidFill>
                  <a:srgbClr val="1F8A4C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 firmas sobre 3 citas; buena capacidad de cierre.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155346" y="3685226"/>
            <a:ext cx="1884164" cy="26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Corregir Leads → MQL para que el cierre reciba mejor entrada.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6499613" y="3697728"/>
            <a:ext cx="10149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66.7%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499613" y="3912040"/>
            <a:ext cx="1014971" cy="104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b="1" spc="1" kern="0" dirty="0">
                <a:solidFill>
                  <a:srgbClr val="70695F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CITA→FIRMA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7671746" y="3712015"/>
            <a:ext cx="628650" cy="20002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1" name="Text 38"/>
          <p:cNvSpPr/>
          <p:nvPr/>
        </p:nvSpPr>
        <p:spPr>
          <a:xfrm>
            <a:off x="7671746" y="3712015"/>
            <a:ext cx="628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50" b="1" dirty="0">
                <a:solidFill>
                  <a:srgbClr val="1C1B19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Condicional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385763" y="4404959"/>
            <a:ext cx="8372475" cy="65722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42925" y="4533547"/>
            <a:ext cx="60293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250" b="1" spc="-1" kern="0" dirty="0">
                <a:solidFill>
                  <a:srgbClr val="D9A44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Regla recomendada para escalar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542925" y="4735357"/>
            <a:ext cx="6029325" cy="31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00" dirty="0">
                <a:solidFill>
                  <a:srgbClr val="F6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Subir presupuesto primero en HOGARES y mantener GRUPO ELIJO e INQ bajo prueba semanal; el </a:t>
            </a:r>
            <a:r>
              <a:rPr lang="en-US" sz="900" dirty="0">
                <a:solidFill>
                  <a:srgbClr val="F6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incremento debe detenerse si el </a:t>
            </a:r>
            <a:r>
              <a:rPr lang="en-US" sz="850" b="1" dirty="0">
                <a:solidFill>
                  <a:srgbClr val="D9A44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costo por cita</a:t>
            </a:r>
            <a:r>
              <a:rPr lang="en-US" sz="900" dirty="0">
                <a:solidFill>
                  <a:srgbClr val="F6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sube o si el semáforo de adquisición permanece en rojo.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743700" y="4533547"/>
            <a:ext cx="185737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2500" dirty="0">
                <a:solidFill>
                  <a:srgbClr val="F6F2EA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3</a:t>
            </a:r>
            <a:endParaRPr lang="en-US" sz="2500" dirty="0"/>
          </a:p>
        </p:txBody>
      </p:sp>
      <p:sp>
        <p:nvSpPr>
          <p:cNvPr id="46" name="Text 43"/>
          <p:cNvSpPr/>
          <p:nvPr/>
        </p:nvSpPr>
        <p:spPr>
          <a:xfrm>
            <a:off x="6743700" y="4905022"/>
            <a:ext cx="18573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b="1" spc="1" kern="0" dirty="0">
                <a:solidFill>
                  <a:srgbClr val="D8D0C0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CLIENTES CON SEÑAL POSITIVA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442913"/>
            <a:ext cx="66151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0695F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TENDENCIA DIARIA DEL PIPELINE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85763" y="628650"/>
            <a:ext cx="6072188" cy="291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150" spc="-1" kern="0" dirty="0">
                <a:solidFill>
                  <a:srgbClr val="1C1B19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La tendencia diaria muestra picos de volumen</a:t>
            </a:r>
            <a:endParaRPr lang="en-US" sz="2150" dirty="0"/>
          </a:p>
        </p:txBody>
      </p:sp>
      <p:sp>
        <p:nvSpPr>
          <p:cNvPr id="5" name="Shape 2"/>
          <p:cNvSpPr/>
          <p:nvPr/>
        </p:nvSpPr>
        <p:spPr>
          <a:xfrm>
            <a:off x="7186613" y="442913"/>
            <a:ext cx="1571625" cy="55721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6" name="Text 3"/>
          <p:cNvSpPr/>
          <p:nvPr/>
        </p:nvSpPr>
        <p:spPr>
          <a:xfrm>
            <a:off x="7408962" y="645505"/>
            <a:ext cx="387548" cy="152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9600"/>
              </a:lnSpc>
              <a:buNone/>
            </a:pPr>
            <a:r>
              <a:rPr lang="en-US" sz="950" b="1" dirty="0">
                <a:solidFill>
                  <a:srgbClr val="F6F2EA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01–10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796510" y="645505"/>
            <a:ext cx="739378" cy="152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9600"/>
              </a:lnSpc>
              <a:buNone/>
            </a:pPr>
            <a:r>
              <a:rPr lang="en-US" sz="950" b="1" dirty="0">
                <a:solidFill>
                  <a:srgbClr val="F6F2EA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mayo 2026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5763" y="1171575"/>
            <a:ext cx="2043113" cy="311261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9" name="Text 6"/>
          <p:cNvSpPr/>
          <p:nvPr/>
        </p:nvSpPr>
        <p:spPr>
          <a:xfrm>
            <a:off x="542925" y="1328738"/>
            <a:ext cx="17287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D9A441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LECTURA DE RITMO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42925" y="1578769"/>
            <a:ext cx="1728788" cy="912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550" b="1" spc="-1" kern="0" dirty="0">
                <a:solidFill>
                  <a:srgbClr val="F6F2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El volumen no siempre se traduce en avance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42925" y="2605460"/>
            <a:ext cx="1728788" cy="876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0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04/05 concentró el pico de conversaciones, pero no generó el mayor avance de citas ni firmas. La calidad de calificación es el factor que separa volumen de oportunidad real.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42925" y="3718043"/>
            <a:ext cx="17287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spc="-1" kern="0" dirty="0">
                <a:solidFill>
                  <a:srgbClr val="D9A44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117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2925" y="4010937"/>
            <a:ext cx="1728788" cy="111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Conversaciones el 04/05, el punto más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542925" y="4172564"/>
            <a:ext cx="1728788" cy="111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alto del periodo.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2600325" y="1171575"/>
            <a:ext cx="6157913" cy="3039666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16" name="Shape 13"/>
          <p:cNvSpPr/>
          <p:nvPr/>
        </p:nvSpPr>
        <p:spPr>
          <a:xfrm>
            <a:off x="2600325" y="1171575"/>
            <a:ext cx="615786" cy="27146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2600325" y="1171575"/>
            <a:ext cx="615786" cy="271463"/>
          </a:xfrm>
          <a:prstGeom prst="rect">
            <a:avLst/>
          </a:prstGeom>
          <a:noFill/>
          <a:ln/>
        </p:spPr>
        <p:txBody>
          <a:bodyPr wrap="none" lIns="68072" tIns="68072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FECHA</a:t>
            </a:r>
            <a:endParaRPr lang="en-US" sz="550" dirty="0"/>
          </a:p>
        </p:txBody>
      </p:sp>
      <p:sp>
        <p:nvSpPr>
          <p:cNvPr id="18" name="Shape 15"/>
          <p:cNvSpPr/>
          <p:nvPr/>
        </p:nvSpPr>
        <p:spPr>
          <a:xfrm>
            <a:off x="3216111" y="1171575"/>
            <a:ext cx="1539478" cy="27146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3216111" y="1171575"/>
            <a:ext cx="1539478" cy="271463"/>
          </a:xfrm>
          <a:prstGeom prst="rect">
            <a:avLst/>
          </a:prstGeom>
          <a:noFill/>
          <a:ln/>
        </p:spPr>
        <p:txBody>
          <a:bodyPr wrap="square" lIns="68072" tIns="68072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CONVERSACIONES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4755589" y="1171575"/>
            <a:ext cx="615786" cy="27146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5589" y="1171575"/>
            <a:ext cx="615786" cy="271463"/>
          </a:xfrm>
          <a:prstGeom prst="rect">
            <a:avLst/>
          </a:prstGeom>
          <a:noFill/>
          <a:ln/>
        </p:spPr>
        <p:txBody>
          <a:bodyPr wrap="none" lIns="68072" tIns="68072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MQL</a:t>
            </a:r>
            <a:endParaRPr lang="en-US" sz="550" dirty="0"/>
          </a:p>
        </p:txBody>
      </p:sp>
      <p:sp>
        <p:nvSpPr>
          <p:cNvPr id="22" name="Shape 19"/>
          <p:cNvSpPr/>
          <p:nvPr/>
        </p:nvSpPr>
        <p:spPr>
          <a:xfrm>
            <a:off x="5371374" y="1171575"/>
            <a:ext cx="615786" cy="27146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5371374" y="1171575"/>
            <a:ext cx="615786" cy="271463"/>
          </a:xfrm>
          <a:prstGeom prst="rect">
            <a:avLst/>
          </a:prstGeom>
          <a:noFill/>
          <a:ln/>
        </p:spPr>
        <p:txBody>
          <a:bodyPr wrap="none" lIns="68072" tIns="68072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SQL</a:t>
            </a:r>
            <a:endParaRPr lang="en-US" sz="550" dirty="0"/>
          </a:p>
        </p:txBody>
      </p:sp>
      <p:sp>
        <p:nvSpPr>
          <p:cNvPr id="24" name="Shape 21"/>
          <p:cNvSpPr/>
          <p:nvPr/>
        </p:nvSpPr>
        <p:spPr>
          <a:xfrm>
            <a:off x="5987160" y="1171575"/>
            <a:ext cx="615786" cy="27146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5" name="Text 22"/>
          <p:cNvSpPr/>
          <p:nvPr/>
        </p:nvSpPr>
        <p:spPr>
          <a:xfrm>
            <a:off x="5987160" y="1171575"/>
            <a:ext cx="615786" cy="271463"/>
          </a:xfrm>
          <a:prstGeom prst="rect">
            <a:avLst/>
          </a:prstGeom>
          <a:noFill/>
          <a:ln/>
        </p:spPr>
        <p:txBody>
          <a:bodyPr wrap="none" lIns="68072" tIns="68072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CITAS</a:t>
            </a:r>
            <a:endParaRPr lang="en-US" sz="550" dirty="0"/>
          </a:p>
        </p:txBody>
      </p:sp>
      <p:sp>
        <p:nvSpPr>
          <p:cNvPr id="26" name="Shape 23"/>
          <p:cNvSpPr/>
          <p:nvPr/>
        </p:nvSpPr>
        <p:spPr>
          <a:xfrm>
            <a:off x="6602946" y="1171575"/>
            <a:ext cx="615786" cy="27146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6602946" y="1171575"/>
            <a:ext cx="615786" cy="271463"/>
          </a:xfrm>
          <a:prstGeom prst="rect">
            <a:avLst/>
          </a:prstGeom>
          <a:noFill/>
          <a:ln/>
        </p:spPr>
        <p:txBody>
          <a:bodyPr wrap="none" lIns="68072" tIns="68072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FIRMAS</a:t>
            </a:r>
            <a:endParaRPr lang="en-US" sz="550" dirty="0"/>
          </a:p>
        </p:txBody>
      </p:sp>
      <p:sp>
        <p:nvSpPr>
          <p:cNvPr id="28" name="Shape 25"/>
          <p:cNvSpPr/>
          <p:nvPr/>
        </p:nvSpPr>
        <p:spPr>
          <a:xfrm>
            <a:off x="7218731" y="1171575"/>
            <a:ext cx="1539506" cy="27146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9" name="Text 26"/>
          <p:cNvSpPr/>
          <p:nvPr/>
        </p:nvSpPr>
        <p:spPr>
          <a:xfrm>
            <a:off x="7218731" y="1171575"/>
            <a:ext cx="1539506" cy="271463"/>
          </a:xfrm>
          <a:prstGeom prst="rect">
            <a:avLst/>
          </a:prstGeom>
          <a:noFill/>
          <a:ln/>
        </p:spPr>
        <p:txBody>
          <a:bodyPr wrap="square" lIns="68072" tIns="68072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SEÑAL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2600325" y="1443038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01/05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273261" y="1538585"/>
            <a:ext cx="3000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49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630448" y="1573411"/>
            <a:ext cx="942975" cy="85725"/>
          </a:xfrm>
          <a:prstGeom prst="rect">
            <a:avLst/>
          </a:prstGeom>
          <a:solidFill>
            <a:srgbClr val="E1D8C8"/>
          </a:solidFill>
          <a:ln/>
        </p:spPr>
      </p:sp>
      <p:sp>
        <p:nvSpPr>
          <p:cNvPr id="33" name="Text 30"/>
          <p:cNvSpPr/>
          <p:nvPr/>
        </p:nvSpPr>
        <p:spPr>
          <a:xfrm>
            <a:off x="4755589" y="1443038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371374" y="1443038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987160" y="1443038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602946" y="1443038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18731" y="1443038"/>
            <a:ext cx="1539506" cy="307181"/>
          </a:xfrm>
          <a:prstGeom prst="rect">
            <a:avLst/>
          </a:prstGeom>
          <a:noFill/>
          <a:ln/>
        </p:spPr>
        <p:txBody>
          <a:bodyPr wrap="squar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Buen arranque de MQL.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2600325" y="1750219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02/05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3273261" y="1847552"/>
            <a:ext cx="3000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56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630448" y="1882378"/>
            <a:ext cx="942975" cy="85725"/>
          </a:xfrm>
          <a:prstGeom prst="rect">
            <a:avLst/>
          </a:prstGeom>
          <a:solidFill>
            <a:srgbClr val="E1D8C8"/>
          </a:solidFill>
          <a:ln/>
        </p:spPr>
      </p:sp>
      <p:sp>
        <p:nvSpPr>
          <p:cNvPr id="41" name="Text 38"/>
          <p:cNvSpPr/>
          <p:nvPr/>
        </p:nvSpPr>
        <p:spPr>
          <a:xfrm>
            <a:off x="4755589" y="1750219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371374" y="1750219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5987160" y="1750219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602946" y="1750219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7218731" y="1750219"/>
            <a:ext cx="1539506" cy="307181"/>
          </a:xfrm>
          <a:prstGeom prst="rect">
            <a:avLst/>
          </a:prstGeom>
          <a:noFill/>
          <a:ln/>
        </p:spPr>
        <p:txBody>
          <a:bodyPr wrap="squar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Mayor agenda inicial.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2600325" y="2057400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04/05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3273261" y="2154734"/>
            <a:ext cx="3000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117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3630448" y="2189559"/>
            <a:ext cx="942975" cy="85725"/>
          </a:xfrm>
          <a:prstGeom prst="rect">
            <a:avLst/>
          </a:prstGeom>
          <a:solidFill>
            <a:srgbClr val="E1D8C8"/>
          </a:solidFill>
          <a:ln/>
        </p:spPr>
      </p:sp>
      <p:sp>
        <p:nvSpPr>
          <p:cNvPr id="49" name="Text 46"/>
          <p:cNvSpPr/>
          <p:nvPr/>
        </p:nvSpPr>
        <p:spPr>
          <a:xfrm>
            <a:off x="4755589" y="2057400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5371374" y="2057400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5987160" y="2057400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6602946" y="2057400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7218731" y="2057400"/>
            <a:ext cx="1539506" cy="307181"/>
          </a:xfrm>
          <a:prstGeom prst="rect">
            <a:avLst/>
          </a:prstGeom>
          <a:noFill/>
          <a:ln/>
        </p:spPr>
        <p:txBody>
          <a:bodyPr wrap="squar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74332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Pico de volumen con baja conversión.</a:t>
            </a:r>
            <a:endParaRPr lang="en-US" sz="650" dirty="0"/>
          </a:p>
        </p:txBody>
      </p:sp>
      <p:sp>
        <p:nvSpPr>
          <p:cNvPr id="54" name="Text 51"/>
          <p:cNvSpPr/>
          <p:nvPr/>
        </p:nvSpPr>
        <p:spPr>
          <a:xfrm>
            <a:off x="2600325" y="2364581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05/05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3273261" y="2461915"/>
            <a:ext cx="3000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79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630448" y="2496741"/>
            <a:ext cx="942975" cy="85725"/>
          </a:xfrm>
          <a:prstGeom prst="rect">
            <a:avLst/>
          </a:prstGeom>
          <a:solidFill>
            <a:srgbClr val="E1D8C8"/>
          </a:solidFill>
          <a:ln/>
        </p:spPr>
      </p:sp>
      <p:sp>
        <p:nvSpPr>
          <p:cNvPr id="57" name="Text 54"/>
          <p:cNvSpPr/>
          <p:nvPr/>
        </p:nvSpPr>
        <p:spPr>
          <a:xfrm>
            <a:off x="4755589" y="2364581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371374" y="2364581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5987160" y="2364581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6602946" y="2364581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7218731" y="2364581"/>
            <a:ext cx="1539506" cy="307181"/>
          </a:xfrm>
          <a:prstGeom prst="rect">
            <a:avLst/>
          </a:prstGeom>
          <a:noFill/>
          <a:ln/>
        </p:spPr>
        <p:txBody>
          <a:bodyPr wrap="squar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Mejor día de firmas.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2600325" y="2671763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06/05</a:t>
            </a:r>
            <a:endParaRPr lang="en-US" sz="700" dirty="0"/>
          </a:p>
        </p:txBody>
      </p:sp>
      <p:sp>
        <p:nvSpPr>
          <p:cNvPr id="63" name="Text 60"/>
          <p:cNvSpPr/>
          <p:nvPr/>
        </p:nvSpPr>
        <p:spPr>
          <a:xfrm>
            <a:off x="3273261" y="2769096"/>
            <a:ext cx="3000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56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3630448" y="2803922"/>
            <a:ext cx="942975" cy="85725"/>
          </a:xfrm>
          <a:prstGeom prst="rect">
            <a:avLst/>
          </a:prstGeom>
          <a:solidFill>
            <a:srgbClr val="E1D8C8"/>
          </a:solidFill>
          <a:ln/>
        </p:spPr>
      </p:sp>
      <p:sp>
        <p:nvSpPr>
          <p:cNvPr id="65" name="Text 62"/>
          <p:cNvSpPr/>
          <p:nvPr/>
        </p:nvSpPr>
        <p:spPr>
          <a:xfrm>
            <a:off x="4755589" y="2671763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5371374" y="2671763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5987160" y="2671763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6602946" y="2671763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7218731" y="2671763"/>
            <a:ext cx="1539506" cy="307181"/>
          </a:xfrm>
          <a:prstGeom prst="rect">
            <a:avLst/>
          </a:prstGeom>
          <a:noFill/>
          <a:ln/>
        </p:spPr>
        <p:txBody>
          <a:bodyPr wrap="squar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Buen avance a SQL.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2600325" y="2978944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07/05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3273261" y="3076277"/>
            <a:ext cx="3000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62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3630448" y="3111103"/>
            <a:ext cx="942975" cy="85725"/>
          </a:xfrm>
          <a:prstGeom prst="rect">
            <a:avLst/>
          </a:prstGeom>
          <a:solidFill>
            <a:srgbClr val="E1D8C8"/>
          </a:solidFill>
          <a:ln/>
        </p:spPr>
      </p:sp>
      <p:sp>
        <p:nvSpPr>
          <p:cNvPr id="73" name="Text 70"/>
          <p:cNvSpPr/>
          <p:nvPr/>
        </p:nvSpPr>
        <p:spPr>
          <a:xfrm>
            <a:off x="4755589" y="2978944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5371374" y="2978944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850" dirty="0"/>
          </a:p>
        </p:txBody>
      </p:sp>
      <p:sp>
        <p:nvSpPr>
          <p:cNvPr id="75" name="Text 72"/>
          <p:cNvSpPr/>
          <p:nvPr/>
        </p:nvSpPr>
        <p:spPr>
          <a:xfrm>
            <a:off x="5987160" y="2978944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6602946" y="2978944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7218731" y="2978944"/>
            <a:ext cx="1539506" cy="307181"/>
          </a:xfrm>
          <a:prstGeom prst="rect">
            <a:avLst/>
          </a:prstGeom>
          <a:noFill/>
          <a:ln/>
        </p:spPr>
        <p:txBody>
          <a:bodyPr wrap="squar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Agenda estable.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2600325" y="3286125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08/05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3273261" y="3383459"/>
            <a:ext cx="3000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37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3630448" y="3418284"/>
            <a:ext cx="942975" cy="85725"/>
          </a:xfrm>
          <a:prstGeom prst="rect">
            <a:avLst/>
          </a:prstGeom>
          <a:solidFill>
            <a:srgbClr val="E1D8C8"/>
          </a:solidFill>
          <a:ln/>
        </p:spPr>
      </p:sp>
      <p:sp>
        <p:nvSpPr>
          <p:cNvPr id="81" name="Text 78"/>
          <p:cNvSpPr/>
          <p:nvPr/>
        </p:nvSpPr>
        <p:spPr>
          <a:xfrm>
            <a:off x="4755589" y="3286125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7433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850" dirty="0"/>
          </a:p>
        </p:txBody>
      </p:sp>
      <p:sp>
        <p:nvSpPr>
          <p:cNvPr id="82" name="Text 79"/>
          <p:cNvSpPr/>
          <p:nvPr/>
        </p:nvSpPr>
        <p:spPr>
          <a:xfrm>
            <a:off x="5371374" y="3286125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5987160" y="3286125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850" dirty="0"/>
          </a:p>
        </p:txBody>
      </p:sp>
      <p:sp>
        <p:nvSpPr>
          <p:cNvPr id="84" name="Text 81"/>
          <p:cNvSpPr/>
          <p:nvPr/>
        </p:nvSpPr>
        <p:spPr>
          <a:xfrm>
            <a:off x="6602946" y="3286125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850" dirty="0"/>
          </a:p>
        </p:txBody>
      </p:sp>
      <p:sp>
        <p:nvSpPr>
          <p:cNvPr id="85" name="Text 82"/>
          <p:cNvSpPr/>
          <p:nvPr/>
        </p:nvSpPr>
        <p:spPr>
          <a:xfrm>
            <a:off x="7218731" y="3286125"/>
            <a:ext cx="1539506" cy="307181"/>
          </a:xfrm>
          <a:prstGeom prst="rect">
            <a:avLst/>
          </a:prstGeom>
          <a:noFill/>
          <a:ln/>
        </p:spPr>
        <p:txBody>
          <a:bodyPr wrap="squar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74332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Sin MQL ni SQL.</a:t>
            </a:r>
            <a:endParaRPr lang="en-US" sz="650" dirty="0"/>
          </a:p>
        </p:txBody>
      </p:sp>
      <p:sp>
        <p:nvSpPr>
          <p:cNvPr id="86" name="Text 83"/>
          <p:cNvSpPr/>
          <p:nvPr/>
        </p:nvSpPr>
        <p:spPr>
          <a:xfrm>
            <a:off x="2600325" y="3593306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09/05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3273261" y="3690640"/>
            <a:ext cx="3000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45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3630448" y="3725466"/>
            <a:ext cx="942975" cy="85725"/>
          </a:xfrm>
          <a:prstGeom prst="rect">
            <a:avLst/>
          </a:prstGeom>
          <a:solidFill>
            <a:srgbClr val="E1D8C8"/>
          </a:solidFill>
          <a:ln/>
        </p:spPr>
      </p:sp>
      <p:sp>
        <p:nvSpPr>
          <p:cNvPr id="89" name="Text 86"/>
          <p:cNvSpPr/>
          <p:nvPr/>
        </p:nvSpPr>
        <p:spPr>
          <a:xfrm>
            <a:off x="4755589" y="3593306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5371374" y="3593306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850" dirty="0"/>
          </a:p>
        </p:txBody>
      </p:sp>
      <p:sp>
        <p:nvSpPr>
          <p:cNvPr id="91" name="Text 88"/>
          <p:cNvSpPr/>
          <p:nvPr/>
        </p:nvSpPr>
        <p:spPr>
          <a:xfrm>
            <a:off x="5987160" y="3593306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850" dirty="0"/>
          </a:p>
        </p:txBody>
      </p:sp>
      <p:sp>
        <p:nvSpPr>
          <p:cNvPr id="92" name="Text 89"/>
          <p:cNvSpPr/>
          <p:nvPr/>
        </p:nvSpPr>
        <p:spPr>
          <a:xfrm>
            <a:off x="6602946" y="3593306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850" dirty="0"/>
          </a:p>
        </p:txBody>
      </p:sp>
      <p:sp>
        <p:nvSpPr>
          <p:cNvPr id="93" name="Text 90"/>
          <p:cNvSpPr/>
          <p:nvPr/>
        </p:nvSpPr>
        <p:spPr>
          <a:xfrm>
            <a:off x="7218731" y="3593306"/>
            <a:ext cx="1539506" cy="307181"/>
          </a:xfrm>
          <a:prstGeom prst="rect">
            <a:avLst/>
          </a:prstGeom>
          <a:noFill/>
          <a:ln/>
        </p:spPr>
        <p:txBody>
          <a:bodyPr wrap="squar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Recuperación parcial.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2600325" y="3900488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10/05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273261" y="3997821"/>
            <a:ext cx="3000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45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3630448" y="4032647"/>
            <a:ext cx="942975" cy="85725"/>
          </a:xfrm>
          <a:prstGeom prst="rect">
            <a:avLst/>
          </a:prstGeom>
          <a:solidFill>
            <a:srgbClr val="E1D8C8"/>
          </a:solidFill>
          <a:ln/>
        </p:spPr>
      </p:sp>
      <p:sp>
        <p:nvSpPr>
          <p:cNvPr id="97" name="Text 94"/>
          <p:cNvSpPr/>
          <p:nvPr/>
        </p:nvSpPr>
        <p:spPr>
          <a:xfrm>
            <a:off x="4755589" y="3900488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</a:t>
            </a:r>
            <a:endParaRPr lang="en-US" sz="850" dirty="0"/>
          </a:p>
        </p:txBody>
      </p:sp>
      <p:sp>
        <p:nvSpPr>
          <p:cNvPr id="98" name="Text 95"/>
          <p:cNvSpPr/>
          <p:nvPr/>
        </p:nvSpPr>
        <p:spPr>
          <a:xfrm>
            <a:off x="5371374" y="3900488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850" dirty="0"/>
          </a:p>
        </p:txBody>
      </p:sp>
      <p:sp>
        <p:nvSpPr>
          <p:cNvPr id="99" name="Text 96"/>
          <p:cNvSpPr/>
          <p:nvPr/>
        </p:nvSpPr>
        <p:spPr>
          <a:xfrm>
            <a:off x="5987160" y="3900488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7433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850" dirty="0"/>
          </a:p>
        </p:txBody>
      </p:sp>
      <p:sp>
        <p:nvSpPr>
          <p:cNvPr id="100" name="Text 97"/>
          <p:cNvSpPr/>
          <p:nvPr/>
        </p:nvSpPr>
        <p:spPr>
          <a:xfrm>
            <a:off x="6602946" y="3900488"/>
            <a:ext cx="615786" cy="307181"/>
          </a:xfrm>
          <a:prstGeom prst="rect">
            <a:avLst/>
          </a:prstGeom>
          <a:noFill/>
          <a:ln/>
        </p:spPr>
        <p:txBody>
          <a:bodyPr wrap="none" lIns="68072" tIns="51054" rIns="59563" bIns="0" rtlCol="0" anchor="ctr">
            <a:sp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850" dirty="0"/>
          </a:p>
        </p:txBody>
      </p:sp>
      <p:sp>
        <p:nvSpPr>
          <p:cNvPr id="101" name="Text 98"/>
          <p:cNvSpPr/>
          <p:nvPr/>
        </p:nvSpPr>
        <p:spPr>
          <a:xfrm>
            <a:off x="7218731" y="3900488"/>
            <a:ext cx="1539506" cy="307181"/>
          </a:xfrm>
          <a:prstGeom prst="rect">
            <a:avLst/>
          </a:prstGeom>
          <a:noFill/>
          <a:ln/>
        </p:spPr>
        <p:txBody>
          <a:bodyPr wrap="square" lIns="68072" tIns="51054" rIns="59563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Firma sin nueva cita.</a:t>
            </a:r>
            <a:endParaRPr lang="en-US" sz="700" dirty="0"/>
          </a:p>
        </p:txBody>
      </p:sp>
      <p:sp>
        <p:nvSpPr>
          <p:cNvPr id="102" name="Shape 99"/>
          <p:cNvSpPr/>
          <p:nvPr/>
        </p:nvSpPr>
        <p:spPr>
          <a:xfrm>
            <a:off x="385763" y="4569935"/>
            <a:ext cx="2714625" cy="52863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03" name="Text 100"/>
          <p:cNvSpPr/>
          <p:nvPr/>
        </p:nvSpPr>
        <p:spPr>
          <a:xfrm>
            <a:off x="500063" y="4662804"/>
            <a:ext cx="248602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F6F2EA">
                    <a:alpha val="82000"/>
                  </a:srgbClr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PICO DE VOLUMEN</a:t>
            </a:r>
            <a:endParaRPr lang="en-US" sz="550" dirty="0"/>
          </a:p>
        </p:txBody>
      </p:sp>
      <p:sp>
        <p:nvSpPr>
          <p:cNvPr id="104" name="Text 101"/>
          <p:cNvSpPr/>
          <p:nvPr/>
        </p:nvSpPr>
        <p:spPr>
          <a:xfrm>
            <a:off x="500063" y="4827110"/>
            <a:ext cx="2486025" cy="165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100" b="1" dirty="0">
                <a:solidFill>
                  <a:srgbClr val="F6F2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04/05 · 117 conversaciones</a:t>
            </a:r>
            <a:endParaRPr lang="en-US" sz="1100" dirty="0"/>
          </a:p>
        </p:txBody>
      </p:sp>
      <p:sp>
        <p:nvSpPr>
          <p:cNvPr id="105" name="Shape 102"/>
          <p:cNvSpPr/>
          <p:nvPr/>
        </p:nvSpPr>
        <p:spPr>
          <a:xfrm>
            <a:off x="3214688" y="4569935"/>
            <a:ext cx="2714625" cy="52863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06" name="Text 103"/>
          <p:cNvSpPr/>
          <p:nvPr/>
        </p:nvSpPr>
        <p:spPr>
          <a:xfrm>
            <a:off x="3328988" y="4662804"/>
            <a:ext cx="248602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1C1B19">
                    <a:alpha val="82000"/>
                  </a:srgbClr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MEJOR CIERRE DIARIO</a:t>
            </a:r>
            <a:endParaRPr lang="en-US" sz="550" dirty="0"/>
          </a:p>
        </p:txBody>
      </p:sp>
      <p:sp>
        <p:nvSpPr>
          <p:cNvPr id="107" name="Text 104"/>
          <p:cNvSpPr/>
          <p:nvPr/>
        </p:nvSpPr>
        <p:spPr>
          <a:xfrm>
            <a:off x="3328988" y="4827110"/>
            <a:ext cx="2486025" cy="165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10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05/05 · 2 firmas</a:t>
            </a:r>
            <a:endParaRPr lang="en-US" sz="1100" dirty="0"/>
          </a:p>
        </p:txBody>
      </p:sp>
      <p:sp>
        <p:nvSpPr>
          <p:cNvPr id="108" name="Shape 105"/>
          <p:cNvSpPr/>
          <p:nvPr/>
        </p:nvSpPr>
        <p:spPr>
          <a:xfrm>
            <a:off x="6043613" y="4569935"/>
            <a:ext cx="2714625" cy="528638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109" name="Text 106"/>
          <p:cNvSpPr/>
          <p:nvPr/>
        </p:nvSpPr>
        <p:spPr>
          <a:xfrm>
            <a:off x="6157913" y="4662804"/>
            <a:ext cx="248602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F6F2EA">
                    <a:alpha val="82000"/>
                  </a:srgbClr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ALERTA DE CALIDAD</a:t>
            </a:r>
            <a:endParaRPr lang="en-US" sz="550" dirty="0"/>
          </a:p>
        </p:txBody>
      </p:sp>
      <p:sp>
        <p:nvSpPr>
          <p:cNvPr id="110" name="Text 107"/>
          <p:cNvSpPr/>
          <p:nvPr/>
        </p:nvSpPr>
        <p:spPr>
          <a:xfrm>
            <a:off x="6157913" y="4827110"/>
            <a:ext cx="2486025" cy="165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100" b="1" dirty="0">
                <a:solidFill>
                  <a:srgbClr val="F6F2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08/05 · 0 MQL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457200"/>
            <a:ext cx="66151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0695F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PLAN OPERATIVO SEMANAL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85763" y="642938"/>
            <a:ext cx="5857875" cy="291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150" spc="-1" kern="0" dirty="0">
                <a:solidFill>
                  <a:srgbClr val="1C1B19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Prioridades para la siguiente semana</a:t>
            </a:r>
            <a:endParaRPr lang="en-US" sz="2150" dirty="0"/>
          </a:p>
        </p:txBody>
      </p:sp>
      <p:sp>
        <p:nvSpPr>
          <p:cNvPr id="5" name="Shape 2"/>
          <p:cNvSpPr/>
          <p:nvPr/>
        </p:nvSpPr>
        <p:spPr>
          <a:xfrm>
            <a:off x="7186613" y="457200"/>
            <a:ext cx="1571625" cy="55721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6" name="Text 3"/>
          <p:cNvSpPr/>
          <p:nvPr/>
        </p:nvSpPr>
        <p:spPr>
          <a:xfrm>
            <a:off x="7186613" y="579732"/>
            <a:ext cx="990107" cy="31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6F2EA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Semana posterior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176720" y="579732"/>
            <a:ext cx="581518" cy="31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6F2EA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al 10 mayo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5763" y="1143000"/>
            <a:ext cx="2035969" cy="257175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9" name="Text 6"/>
          <p:cNvSpPr/>
          <p:nvPr/>
        </p:nvSpPr>
        <p:spPr>
          <a:xfrm>
            <a:off x="514350" y="1200150"/>
            <a:ext cx="177879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D9A441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PRINCIPIO DE DECISIÓN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14350" y="1450181"/>
            <a:ext cx="1778794" cy="71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600" b="1" spc="-1" kern="0" dirty="0">
                <a:solidFill>
                  <a:srgbClr val="F6F2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Usar el semáforo para decidir acciones diarias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4350" y="2234794"/>
            <a:ext cx="1778794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prioridad no es aumentar gasto de forma general, sino corregir el bloqueo específico por cliente y proteger el costo por cita.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14350" y="3153380"/>
            <a:ext cx="177879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" b="1" spc="-1" kern="0" dirty="0">
                <a:solidFill>
                  <a:srgbClr val="D9A44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14350" y="3489136"/>
            <a:ext cx="1778794" cy="1151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650" b="1" spc="1" kern="0" dirty="0">
                <a:solidFill>
                  <a:srgbClr val="E8E0D1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FRENTES DE TRABAJO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2593181" y="1143000"/>
            <a:ext cx="6165056" cy="2528553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15" name="Shape 12"/>
          <p:cNvSpPr/>
          <p:nvPr/>
        </p:nvSpPr>
        <p:spPr>
          <a:xfrm>
            <a:off x="2593181" y="1143000"/>
            <a:ext cx="554841" cy="24288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6" name="Text 13"/>
          <p:cNvSpPr/>
          <p:nvPr/>
        </p:nvSpPr>
        <p:spPr>
          <a:xfrm>
            <a:off x="2593181" y="1143000"/>
            <a:ext cx="554841" cy="242888"/>
          </a:xfrm>
          <a:prstGeom prst="rect">
            <a:avLst/>
          </a:prstGeom>
          <a:noFill/>
          <a:ln/>
        </p:spPr>
        <p:txBody>
          <a:bodyPr wrap="non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PRIORIDAD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3148022" y="1143000"/>
            <a:ext cx="1972791" cy="24288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3148022" y="1143000"/>
            <a:ext cx="1972791" cy="242888"/>
          </a:xfrm>
          <a:prstGeom prst="rect">
            <a:avLst/>
          </a:prstGeom>
          <a:noFill/>
          <a:ln/>
        </p:spPr>
        <p:txBody>
          <a:bodyPr wrap="squar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ENFOQUE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5120813" y="1143000"/>
            <a:ext cx="1602907" cy="24288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0" name="Text 17"/>
          <p:cNvSpPr/>
          <p:nvPr/>
        </p:nvSpPr>
        <p:spPr>
          <a:xfrm>
            <a:off x="5120813" y="1143000"/>
            <a:ext cx="1602907" cy="242888"/>
          </a:xfrm>
          <a:prstGeom prst="rect">
            <a:avLst/>
          </a:prstGeom>
          <a:noFill/>
          <a:ln/>
        </p:spPr>
        <p:txBody>
          <a:bodyPr wrap="squar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CLIENTES CLAVE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6723720" y="1143000"/>
            <a:ext cx="2034518" cy="242888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2" name="Text 19"/>
          <p:cNvSpPr/>
          <p:nvPr/>
        </p:nvSpPr>
        <p:spPr>
          <a:xfrm>
            <a:off x="6723720" y="1143000"/>
            <a:ext cx="2034518" cy="242888"/>
          </a:xfrm>
          <a:prstGeom prst="rect">
            <a:avLst/>
          </a:prstGeom>
          <a:noFill/>
          <a:ln/>
        </p:spPr>
        <p:txBody>
          <a:bodyPr wrap="square" lIns="85090" tIns="68072" rIns="68072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RESULTADO ESPERADO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2664619" y="1443038"/>
            <a:ext cx="4262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26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2664619" y="1707356"/>
            <a:ext cx="614363" cy="192881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25" name="Text 22"/>
          <p:cNvSpPr/>
          <p:nvPr/>
        </p:nvSpPr>
        <p:spPr>
          <a:xfrm>
            <a:off x="2664619" y="1707356"/>
            <a:ext cx="6143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Urgente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3219459" y="1437680"/>
            <a:ext cx="1771650" cy="28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b="1" dirty="0">
                <a:solidFill>
                  <a:srgbClr val="1C1B19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Elevar Leads → MQL en clientes rojos.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219459" y="1757642"/>
            <a:ext cx="1844204" cy="235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Revisar clasificación, calidad de conversación y criterios de MQL.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192251" y="1437680"/>
            <a:ext cx="1409105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INQ, GRUPO ELIJO, MANOS, DOS HOGARES, INSPIRA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795157" y="1437680"/>
            <a:ext cx="1509117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b="1" dirty="0">
                <a:solidFill>
                  <a:srgbClr val="1F8A4C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Más oportunidades útiles sin aumentar gasto.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664619" y="2057233"/>
            <a:ext cx="4262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26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1550" dirty="0"/>
          </a:p>
        </p:txBody>
      </p:sp>
      <p:sp>
        <p:nvSpPr>
          <p:cNvPr id="31" name="Shape 28"/>
          <p:cNvSpPr/>
          <p:nvPr/>
        </p:nvSpPr>
        <p:spPr>
          <a:xfrm>
            <a:off x="2664619" y="2321551"/>
            <a:ext cx="614363" cy="192881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32" name="Text 29"/>
          <p:cNvSpPr/>
          <p:nvPr/>
        </p:nvSpPr>
        <p:spPr>
          <a:xfrm>
            <a:off x="2664619" y="2321551"/>
            <a:ext cx="6143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Urgente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3219459" y="2051875"/>
            <a:ext cx="1589484" cy="28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b="1" dirty="0">
                <a:solidFill>
                  <a:srgbClr val="1C1B19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Auditar MANOS AL HOGAR e INSPIRA.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219459" y="2371837"/>
            <a:ext cx="1844204" cy="235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Cortar desperdicio en CPL rojo y costo por cita elevado.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5192251" y="2051875"/>
            <a:ext cx="1462683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MANOS AL HOGAR · INSPIRA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6795157" y="2051875"/>
            <a:ext cx="1794867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b="1" dirty="0">
                <a:solidFill>
                  <a:srgbClr val="1F8A4C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Reducir costo por lead y costo por cita.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2664619" y="2671428"/>
            <a:ext cx="4262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26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</a:t>
            </a: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2664619" y="2935746"/>
            <a:ext cx="614363" cy="192881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9" name="Text 36"/>
          <p:cNvSpPr/>
          <p:nvPr/>
        </p:nvSpPr>
        <p:spPr>
          <a:xfrm>
            <a:off x="2664619" y="2935746"/>
            <a:ext cx="6143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b="1" dirty="0">
                <a:solidFill>
                  <a:srgbClr val="1C1B19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Atención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3219459" y="2666070"/>
            <a:ext cx="180379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b="1" dirty="0">
                <a:solidFill>
                  <a:srgbClr val="1C1B19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Convertir citas de GRUPO ELIJO.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219459" y="2846589"/>
            <a:ext cx="1844204" cy="235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Dar seguimiento post-cita, objeciones y próxima acción comercial.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5192251" y="2666070"/>
            <a:ext cx="692944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GRUPO ELIJO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6795157" y="2666070"/>
            <a:ext cx="1707356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b="1" dirty="0">
                <a:solidFill>
                  <a:srgbClr val="1F8A4C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Recuperar firmas pendientes del pipeline.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2664619" y="3200065"/>
            <a:ext cx="4262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26262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</a:t>
            </a:r>
            <a:endParaRPr lang="en-US" sz="1550" dirty="0"/>
          </a:p>
        </p:txBody>
      </p:sp>
      <p:sp>
        <p:nvSpPr>
          <p:cNvPr id="45" name="Shape 42"/>
          <p:cNvSpPr/>
          <p:nvPr/>
        </p:nvSpPr>
        <p:spPr>
          <a:xfrm>
            <a:off x="2664619" y="3464384"/>
            <a:ext cx="614363" cy="192881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46" name="Text 43"/>
          <p:cNvSpPr/>
          <p:nvPr/>
        </p:nvSpPr>
        <p:spPr>
          <a:xfrm>
            <a:off x="2664619" y="3464384"/>
            <a:ext cx="6143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Escalar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3219459" y="3194707"/>
            <a:ext cx="168771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b="1" dirty="0">
                <a:solidFill>
                  <a:srgbClr val="1C1B19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Escalar HOGARES con control.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3219459" y="3375227"/>
            <a:ext cx="1844204" cy="235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55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Aumentar volumen solo si SQL → Cita mejora y el costo por cita se mantiene.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5192251" y="3194707"/>
            <a:ext cx="516136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b="1" dirty="0">
                <a:solidFill>
                  <a:srgbClr val="26262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HOGARES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6795157" y="3194707"/>
            <a:ext cx="1818084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b="1" dirty="0">
                <a:solidFill>
                  <a:srgbClr val="1F8A4C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Mantener eficiencia mientras sube volumen.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385763" y="3943350"/>
            <a:ext cx="2143125" cy="348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dirty="0">
                <a:solidFill>
                  <a:srgbClr val="1F8A4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Regla de seguimiento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2700338" y="3943350"/>
            <a:ext cx="6057900" cy="348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Revisar diariamente semáforo, costo por cita y avance por etapa; si un cliente empeora en </a:t>
            </a:r>
            <a:r>
              <a:rPr lang="en-US" sz="10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adquisición, </a:t>
            </a:r>
            <a:r>
              <a:rPr lang="en-US" sz="1000" b="1" dirty="0">
                <a:solidFill>
                  <a:srgbClr val="C74332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detener escalamiento</a:t>
            </a:r>
            <a:r>
              <a:rPr lang="en-US" sz="10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hasta corregir el bloqueo.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457200"/>
            <a:ext cx="65436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0695F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METODOLOGÍA Y ALCANCE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85763" y="642938"/>
            <a:ext cx="5857875" cy="58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150" spc="-1" kern="0" dirty="0">
                <a:solidFill>
                  <a:srgbClr val="1C1B19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El reporte replica los cálculos incorporados en la web app</a:t>
            </a:r>
            <a:endParaRPr lang="en-US" sz="2150" dirty="0"/>
          </a:p>
        </p:txBody>
      </p:sp>
      <p:sp>
        <p:nvSpPr>
          <p:cNvPr id="5" name="Shape 2"/>
          <p:cNvSpPr/>
          <p:nvPr/>
        </p:nvSpPr>
        <p:spPr>
          <a:xfrm>
            <a:off x="7115175" y="457200"/>
            <a:ext cx="1643063" cy="557213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6" name="Text 3"/>
          <p:cNvSpPr/>
          <p:nvPr/>
        </p:nvSpPr>
        <p:spPr>
          <a:xfrm>
            <a:off x="7288411" y="659792"/>
            <a:ext cx="378619" cy="152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9600"/>
              </a:lnSpc>
              <a:buNone/>
            </a:pPr>
            <a:r>
              <a:rPr lang="en-US" sz="950" b="1" dirty="0">
                <a:solidFill>
                  <a:srgbClr val="F6F2EA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Corte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667030" y="659792"/>
            <a:ext cx="917972" cy="152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9600"/>
              </a:lnSpc>
              <a:buNone/>
            </a:pPr>
            <a:r>
              <a:rPr lang="en-US" sz="950" b="1" dirty="0">
                <a:solidFill>
                  <a:srgbClr val="F6F2EA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10 mayo 2026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5763" y="1411560"/>
            <a:ext cx="5807869" cy="2661047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9" name="Shape 6"/>
          <p:cNvSpPr/>
          <p:nvPr/>
        </p:nvSpPr>
        <p:spPr>
          <a:xfrm>
            <a:off x="385763" y="1411560"/>
            <a:ext cx="1626180" cy="25717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0" name="Text 7"/>
          <p:cNvSpPr/>
          <p:nvPr/>
        </p:nvSpPr>
        <p:spPr>
          <a:xfrm>
            <a:off x="385763" y="1411560"/>
            <a:ext cx="1626180" cy="257175"/>
          </a:xfrm>
          <a:prstGeom prst="rect">
            <a:avLst/>
          </a:prstGeom>
          <a:noFill/>
          <a:ln/>
        </p:spPr>
        <p:txBody>
          <a:bodyPr wrap="square" lIns="119126" tIns="51054" rIns="102108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ELEMENTO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2011942" y="1411560"/>
            <a:ext cx="4181689" cy="25717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2" name="Text 9"/>
          <p:cNvSpPr/>
          <p:nvPr/>
        </p:nvSpPr>
        <p:spPr>
          <a:xfrm>
            <a:off x="2011942" y="1411560"/>
            <a:ext cx="4181689" cy="257175"/>
          </a:xfrm>
          <a:prstGeom prst="rect">
            <a:avLst/>
          </a:prstGeom>
          <a:noFill/>
          <a:ln/>
        </p:spPr>
        <p:txBody>
          <a:bodyPr wrap="square" lIns="119126" tIns="51054" rIns="102108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CRITERIO USADO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85763" y="1668735"/>
            <a:ext cx="1626180" cy="400050"/>
          </a:xfrm>
          <a:prstGeom prst="rect">
            <a:avLst/>
          </a:prstGeom>
          <a:noFill/>
          <a:ln/>
        </p:spPr>
        <p:txBody>
          <a:bodyPr wrap="square" lIns="119126" tIns="68072" rIns="102108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262626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Periodo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011942" y="1668735"/>
            <a:ext cx="4181689" cy="400050"/>
          </a:xfrm>
          <a:prstGeom prst="rect">
            <a:avLst/>
          </a:prstGeom>
          <a:noFill/>
          <a:ln/>
        </p:spPr>
        <p:txBody>
          <a:bodyPr wrap="square" lIns="119126" tIns="68072" rIns="102108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Acumulado del 1 al 10 de mayo de 2026, con lectura por cliente y total general.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85763" y="2068785"/>
            <a:ext cx="1626180" cy="400050"/>
          </a:xfrm>
          <a:prstGeom prst="rect">
            <a:avLst/>
          </a:prstGeom>
          <a:noFill/>
          <a:ln/>
        </p:spPr>
        <p:txBody>
          <a:bodyPr wrap="square" lIns="119126" tIns="68072" rIns="102108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262626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Fuente de pipeline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011942" y="2068785"/>
            <a:ext cx="4181689" cy="400050"/>
          </a:xfrm>
          <a:prstGeom prst="rect">
            <a:avLst/>
          </a:prstGeom>
          <a:noFill/>
          <a:ln/>
        </p:spPr>
        <p:txBody>
          <a:bodyPr wrap="square" lIns="119126" tIns="68072" rIns="102108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 integrado en la web app con conversaciones, MQL, SQL, citas y firmas por fecha y cliente.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85763" y="2468835"/>
            <a:ext cx="1626180" cy="400050"/>
          </a:xfrm>
          <a:prstGeom prst="rect">
            <a:avLst/>
          </a:prstGeom>
          <a:noFill/>
          <a:ln/>
        </p:spPr>
        <p:txBody>
          <a:bodyPr wrap="square" lIns="119126" tIns="68072" rIns="102108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262626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Fuente de inversión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011942" y="2468835"/>
            <a:ext cx="4181689" cy="400050"/>
          </a:xfrm>
          <a:prstGeom prst="rect">
            <a:avLst/>
          </a:prstGeom>
          <a:noFill/>
          <a:ln/>
        </p:spPr>
        <p:txBody>
          <a:bodyPr wrap="square" lIns="119126" tIns="68072" rIns="102108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Importes confirmados de Meta Ads por cuenta publicitaria, vinculados al cliente correspondiente.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85763" y="2868885"/>
            <a:ext cx="1626180" cy="400050"/>
          </a:xfrm>
          <a:prstGeom prst="rect">
            <a:avLst/>
          </a:prstGeom>
          <a:noFill/>
          <a:ln/>
        </p:spPr>
        <p:txBody>
          <a:bodyPr wrap="square" lIns="119126" tIns="68072" rIns="102108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262626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Costo por cita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011942" y="2868885"/>
            <a:ext cx="4181689" cy="400050"/>
          </a:xfrm>
          <a:prstGeom prst="rect">
            <a:avLst/>
          </a:prstGeom>
          <a:noFill/>
          <a:ln/>
        </p:spPr>
        <p:txBody>
          <a:bodyPr wrap="square" lIns="119126" tIns="68072" rIns="102108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Inversión total del cliente dividida entre citas totales del cliente dentro del periodo.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85763" y="3268935"/>
            <a:ext cx="1626180" cy="400050"/>
          </a:xfrm>
          <a:prstGeom prst="rect">
            <a:avLst/>
          </a:prstGeom>
          <a:noFill/>
          <a:ln/>
        </p:spPr>
        <p:txBody>
          <a:bodyPr wrap="square" lIns="119126" tIns="68072" rIns="102108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262626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Semáforo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011942" y="3268935"/>
            <a:ext cx="4181689" cy="400050"/>
          </a:xfrm>
          <a:prstGeom prst="rect">
            <a:avLst/>
          </a:prstGeom>
          <a:noFill/>
          <a:ln/>
        </p:spPr>
        <p:txBody>
          <a:bodyPr wrap="square" lIns="119126" tIns="68072" rIns="102108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Mismos umbrales aplicados en la web app para conversiones de funnel y costo por lead.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5763" y="3668985"/>
            <a:ext cx="1626180" cy="400050"/>
          </a:xfrm>
          <a:prstGeom prst="rect">
            <a:avLst/>
          </a:prstGeom>
          <a:noFill/>
          <a:ln/>
        </p:spPr>
        <p:txBody>
          <a:bodyPr wrap="square" lIns="119126" tIns="68072" rIns="102108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262626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Temporalidad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011942" y="3668985"/>
            <a:ext cx="4181689" cy="400050"/>
          </a:xfrm>
          <a:prstGeom prst="rect">
            <a:avLst/>
          </a:prstGeom>
          <a:noFill/>
          <a:ln/>
        </p:spPr>
        <p:txBody>
          <a:bodyPr wrap="square" lIns="119126" tIns="68072" rIns="102108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C1B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corte completo coincide con Meta Ads; los cortes parciales en la app usan prorrateo diario por ser un dashboard estático.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365081" y="1411560"/>
            <a:ext cx="2393156" cy="2661047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6" name="Text 23"/>
          <p:cNvSpPr/>
          <p:nvPr/>
        </p:nvSpPr>
        <p:spPr>
          <a:xfrm>
            <a:off x="6536531" y="1540148"/>
            <a:ext cx="205025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D9A441"/>
                </a:solidFill>
                <a:latin typeface="DM Sans ExtraBold" pitchFamily="34" charset="0"/>
                <a:ea typeface="DM Sans ExtraBold" pitchFamily="34" charset="-122"/>
                <a:cs typeface="DM Sans ExtraBold" pitchFamily="34" charset="-120"/>
              </a:rPr>
              <a:t>FÓRMULA PRINCIPAL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6536531" y="1733029"/>
            <a:ext cx="2050256" cy="717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650" spc="-1" kern="0" dirty="0">
                <a:solidFill>
                  <a:srgbClr val="D9A44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Costo por cita</a:t>
            </a:r>
            <a:r>
              <a:rPr lang="en-US" sz="1650" spc="-1" kern="0" dirty="0">
                <a:solidFill>
                  <a:srgbClr val="F6F2EA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
</a:t>
            </a:r>
            <a:r>
              <a:rPr lang="en-US" sz="1650" spc="-1" kern="0" dirty="0">
                <a:solidFill>
                  <a:srgbClr val="D9A44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= inversión total ÷ </a:t>
            </a:r>
            <a:r>
              <a:rPr lang="en-US" sz="1650" spc="-1" kern="0" dirty="0">
                <a:solidFill>
                  <a:srgbClr val="D9A44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citas totales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6536531" y="2550486"/>
            <a:ext cx="2050256" cy="603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E8E0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 métrica permite comparar eficiencia comercial por cliente sin depender solo del volumen de conversaciones.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536531" y="3239635"/>
            <a:ext cx="2050256" cy="497495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D8D0C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Alcance:</a:t>
            </a:r>
            <a:r>
              <a:rPr lang="en-US" sz="650" dirty="0">
                <a:solidFill>
                  <a:srgbClr val="D8D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reporte operativo para seguimiento </a:t>
            </a:r>
            <a:r>
              <a:rPr lang="en-US" sz="650" dirty="0">
                <a:solidFill>
                  <a:srgbClr val="D8D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pipeline, inversión, conversión, semáforo y </a:t>
            </a:r>
            <a:r>
              <a:rPr lang="en-US" sz="650" dirty="0">
                <a:solidFill>
                  <a:srgbClr val="D8D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acciones por cliente hasta el 10 de mayo.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385763" y="4272632"/>
            <a:ext cx="1571625" cy="564356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Reglas clave del semáforo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1957388" y="4272632"/>
            <a:ext cx="2266941" cy="564356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32" name="Text 29"/>
          <p:cNvSpPr/>
          <p:nvPr/>
        </p:nvSpPr>
        <p:spPr>
          <a:xfrm>
            <a:off x="2057400" y="4344070"/>
            <a:ext cx="206691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50" b="1" dirty="0">
                <a:solidFill>
                  <a:srgbClr val="F6F2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Verde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2057400" y="4565526"/>
            <a:ext cx="206691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Leads→MQL ≥20%, MQL→SQL ≥75%, SQL→Cita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057400" y="4729832"/>
            <a:ext cx="206691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≥52%, CPL ≤$50.</a:t>
            </a:r>
            <a:endParaRPr lang="en-US" sz="600" dirty="0"/>
          </a:p>
        </p:txBody>
      </p:sp>
      <p:sp>
        <p:nvSpPr>
          <p:cNvPr id="35" name="Shape 32"/>
          <p:cNvSpPr/>
          <p:nvPr/>
        </p:nvSpPr>
        <p:spPr>
          <a:xfrm>
            <a:off x="4224328" y="4272632"/>
            <a:ext cx="2266941" cy="56435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6" name="Text 33"/>
          <p:cNvSpPr/>
          <p:nvPr/>
        </p:nvSpPr>
        <p:spPr>
          <a:xfrm>
            <a:off x="4324341" y="4344070"/>
            <a:ext cx="206691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50" b="1" dirty="0">
                <a:solidFill>
                  <a:srgbClr val="1C1B1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Amarillo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4324341" y="4565526"/>
            <a:ext cx="206691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Rangos medios: Leads→MQL 17–19%,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4324341" y="4729832"/>
            <a:ext cx="206691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b="1" dirty="0">
                <a:solidFill>
                  <a:srgbClr val="1C1B1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SQL→Cita 43–51%, CPL $51–$59.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6491269" y="4272632"/>
            <a:ext cx="2266969" cy="564356"/>
          </a:xfrm>
          <a:prstGeom prst="rect">
            <a:avLst/>
          </a:prstGeom>
          <a:solidFill>
            <a:srgbClr val="C74332"/>
          </a:solidFill>
          <a:ln/>
        </p:spPr>
      </p:sp>
      <p:sp>
        <p:nvSpPr>
          <p:cNvPr id="40" name="Text 37"/>
          <p:cNvSpPr/>
          <p:nvPr/>
        </p:nvSpPr>
        <p:spPr>
          <a:xfrm>
            <a:off x="6591281" y="4344070"/>
            <a:ext cx="206694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50" b="1" dirty="0">
                <a:solidFill>
                  <a:srgbClr val="F6F2E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Rojo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6591281" y="4565526"/>
            <a:ext cx="20669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Debajo de umbral mínimo o CPL ≥$60; requiere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6591281" y="4729832"/>
            <a:ext cx="20669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b="1" dirty="0">
                <a:solidFill>
                  <a:srgbClr val="F6F2E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intervención operativa.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385763" y="4951288"/>
            <a:ext cx="8372475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7069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Preparado por Manus AI · Reporte basado en los datos y reglas incorporadas en Dashboard Pipeline Clientes.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2026-05-12T05:33:34Z</dcterms:created>
  <dcterms:modified xsi:type="dcterms:W3CDTF">2026-05-12T05:33:34Z</dcterms:modified>
</cp:coreProperties>
</file>